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7e5d7ddca84569" /><Relationship Type="http://schemas.openxmlformats.org/officeDocument/2006/relationships/extended-properties" Target="/docProps/app.xml" Id="Rb5cb5974d4794de5" /><Relationship Type="http://schemas.openxmlformats.org/officeDocument/2006/relationships/officeDocument" Target="/ppt/presentation.xml" Id="Rf13ee2e5eeb7481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22e1127443047cd"/>
  </p:sldMasterIdLst>
  <p:notesMasterIdLst>
    <p:notesMasterId xmlns:r="http://schemas.openxmlformats.org/officeDocument/2006/relationships" r:id="R46257eeb79234814"/>
  </p:notesMasterIdLst>
  <p:sldIdLst>
    <p:sldId xmlns:r="http://schemas.openxmlformats.org/officeDocument/2006/relationships" id="256" r:id="R419d8ab8f6fd4127"/>
    <p:sldId xmlns:r="http://schemas.openxmlformats.org/officeDocument/2006/relationships" id="257" r:id="Rac3f384a973f4701"/>
    <p:sldId xmlns:r="http://schemas.openxmlformats.org/officeDocument/2006/relationships" id="258" r:id="R1dc4d2f8030c4c31"/>
    <p:sldId xmlns:r="http://schemas.openxmlformats.org/officeDocument/2006/relationships" id="259" r:id="Rd1c257369f55403e"/>
    <p:sldId xmlns:r="http://schemas.openxmlformats.org/officeDocument/2006/relationships" id="260" r:id="Ra08d2ea7e23748f6"/>
    <p:sldId xmlns:r="http://schemas.openxmlformats.org/officeDocument/2006/relationships" id="261" r:id="R9085373a04c74f2b"/>
    <p:sldId xmlns:r="http://schemas.openxmlformats.org/officeDocument/2006/relationships" id="262" r:id="R6738bb774aec4446"/>
    <p:sldId xmlns:r="http://schemas.openxmlformats.org/officeDocument/2006/relationships" id="263" r:id="R5f592d64dbfd404d"/>
    <p:sldId xmlns:r="http://schemas.openxmlformats.org/officeDocument/2006/relationships" id="264" r:id="Rcc0136bf55334631"/>
    <p:sldId xmlns:r="http://schemas.openxmlformats.org/officeDocument/2006/relationships" id="265" r:id="R6b793b308d394b24"/>
    <p:sldId xmlns:r="http://schemas.openxmlformats.org/officeDocument/2006/relationships" id="266" r:id="Rc6f4ddfddf4343e5"/>
    <p:sldId xmlns:r="http://schemas.openxmlformats.org/officeDocument/2006/relationships" id="267" r:id="Rc3986fb71ce14e0f"/>
    <p:sldId xmlns:r="http://schemas.openxmlformats.org/officeDocument/2006/relationships" id="268" r:id="R31c9605e45fc4a57"/>
    <p:sldId xmlns:r="http://schemas.openxmlformats.org/officeDocument/2006/relationships" id="269" r:id="Rc369db065fcc4690"/>
  </p:sldIdLst>
  <p:sldSz cx="12192000" cy="6858000"/>
  <p:notesSz cx="6858000" cy="9144000"/>
  <p:embeddedFontLst>
    <p:embeddedFont>
      <p:font typeface="Lora Medium"/>
      <p:regular xmlns:r="http://schemas.openxmlformats.org/officeDocument/2006/relationships" r:id="R47ad448a74d04cc0"/>
      <p:italic xmlns:r="http://schemas.openxmlformats.org/officeDocument/2006/relationships" r:id="R8f0425b632374f5d"/>
    </p:embeddedFont>
    <p:embeddedFont>
      <p:font typeface="Lora SemiBold"/>
      <p:regular xmlns:r="http://schemas.openxmlformats.org/officeDocument/2006/relationships" r:id="Rf67e2f55ead64b44"/>
      <p:bold xmlns:r="http://schemas.openxmlformats.org/officeDocument/2006/relationships" r:id="Rb183e0cf3ec44b30"/>
      <p:italic xmlns:r="http://schemas.openxmlformats.org/officeDocument/2006/relationships" r:id="Rbd413161d72e4fa7"/>
      <p:boldItalic xmlns:r="http://schemas.openxmlformats.org/officeDocument/2006/relationships" r:id="R885495e657b84248"/>
    </p:embeddedFont>
    <p:embeddedFont>
      <p:font typeface="OpenAI Sans"/>
      <p:regular xmlns:r="http://schemas.openxmlformats.org/officeDocument/2006/relationships" r:id="R0b8516fb27994af0"/>
      <p:bold xmlns:r="http://schemas.openxmlformats.org/officeDocument/2006/relationships" r:id="Rf015fdcfb5a641c6"/>
      <p:italic xmlns:r="http://schemas.openxmlformats.org/officeDocument/2006/relationships" r:id="R3c8064d90f96414e"/>
      <p:boldItalic xmlns:r="http://schemas.openxmlformats.org/officeDocument/2006/relationships" r:id="R56cd3c56ee574e8e"/>
    </p:embeddedFont>
    <p:embeddedFont>
      <p:font typeface="Roboto"/>
      <p:regular xmlns:r="http://schemas.openxmlformats.org/officeDocument/2006/relationships" r:id="R4305ce0f119145bf"/>
      <p:bold xmlns:r="http://schemas.openxmlformats.org/officeDocument/2006/relationships" r:id="Rb7a55790e35a4905"/>
      <p:italic xmlns:r="http://schemas.openxmlformats.org/officeDocument/2006/relationships" r:id="R4dd3c8540d364cfd"/>
      <p:boldItalic xmlns:r="http://schemas.openxmlformats.org/officeDocument/2006/relationships" r:id="Rab84f32ad887492c"/>
    </p:embeddedFont>
    <p:embeddedFont>
      <p:font typeface="Roboto Medium"/>
      <p:regular xmlns:r="http://schemas.openxmlformats.org/officeDocument/2006/relationships" r:id="R9cdff2df85044631"/>
      <p:italic xmlns:r="http://schemas.openxmlformats.org/officeDocument/2006/relationships" r:id="R20c43e3353334a5e"/>
    </p:embeddedFont>
    <p:embeddedFont>
      <p:font typeface="Roboto SemiBold"/>
      <p:regular xmlns:r="http://schemas.openxmlformats.org/officeDocument/2006/relationships" r:id="Ra5c37a7f5d214e75"/>
      <p:bold xmlns:r="http://schemas.openxmlformats.org/officeDocument/2006/relationships" r:id="R8e1e7af1660d4469"/>
      <p:italic xmlns:r="http://schemas.openxmlformats.org/officeDocument/2006/relationships" r:id="R1043c4ebfa14473d"/>
      <p:boldItalic xmlns:r="http://schemas.openxmlformats.org/officeDocument/2006/relationships" r:id="R3bef0242b16f4232"/>
    </p:embeddedFont>
    <p:embeddedFont>
      <p:font typeface="Roboto Serif 14pt"/>
      <p:regular xmlns:r="http://schemas.openxmlformats.org/officeDocument/2006/relationships" r:id="R3fdba13512d54507"/>
      <p:bold xmlns:r="http://schemas.openxmlformats.org/officeDocument/2006/relationships" r:id="R3126a98287af481f"/>
      <p:italic xmlns:r="http://schemas.openxmlformats.org/officeDocument/2006/relationships" r:id="R8a95468fd96940e8"/>
      <p:boldItalic xmlns:r="http://schemas.openxmlformats.org/officeDocument/2006/relationships" r:id="Ra6cc2cb6e8194ed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12cfa489ce4cd5" /><Relationship Type="http://schemas.openxmlformats.org/officeDocument/2006/relationships/slideMaster" Target="/ppt/slideMasters/slideMaster1.xml" Id="R722e1127443047cd" /><Relationship Type="http://schemas.openxmlformats.org/officeDocument/2006/relationships/notesMaster" Target="/ppt/notesMasters/notesMaster1.xml" Id="R46257eeb79234814" /><Relationship Type="http://schemas.openxmlformats.org/officeDocument/2006/relationships/presProps" Target="/ppt/presProps.xml" Id="R38cb898caa104bae" /><Relationship Type="http://schemas.openxmlformats.org/officeDocument/2006/relationships/viewProps" Target="/ppt/viewProps.xml" Id="Rbaeb714cde1643e9" /><Relationship Type="http://schemas.openxmlformats.org/officeDocument/2006/relationships/tableStyles" Target="/ppt/tableStyles.xml" Id="R22829bfd92af463d" /><Relationship Type="http://schemas.openxmlformats.org/officeDocument/2006/relationships/font" Target="/ppt/fonts/font.dat" Id="R47ad448a74d04cc0" /><Relationship Type="http://schemas.openxmlformats.org/officeDocument/2006/relationships/font" Target="/ppt/fonts/font2.dat" Id="R8f0425b632374f5d" /><Relationship Type="http://schemas.openxmlformats.org/officeDocument/2006/relationships/font" Target="/ppt/fonts/font3.dat" Id="Rf67e2f55ead64b44" /><Relationship Type="http://schemas.openxmlformats.org/officeDocument/2006/relationships/font" Target="/ppt/fonts/font4.dat" Id="Rb183e0cf3ec44b30" /><Relationship Type="http://schemas.openxmlformats.org/officeDocument/2006/relationships/font" Target="/ppt/fonts/font5.dat" Id="Rbd413161d72e4fa7" /><Relationship Type="http://schemas.openxmlformats.org/officeDocument/2006/relationships/font" Target="/ppt/fonts/font6.dat" Id="R885495e657b84248" /><Relationship Type="http://schemas.openxmlformats.org/officeDocument/2006/relationships/font" Target="/ppt/fonts/font7.dat" Id="R0b8516fb27994af0" /><Relationship Type="http://schemas.openxmlformats.org/officeDocument/2006/relationships/font" Target="/ppt/fonts/font8.dat" Id="Rf015fdcfb5a641c6" /><Relationship Type="http://schemas.openxmlformats.org/officeDocument/2006/relationships/font" Target="/ppt/fonts/font9.dat" Id="R3c8064d90f96414e" /><Relationship Type="http://schemas.openxmlformats.org/officeDocument/2006/relationships/font" Target="/ppt/fonts/font10.dat" Id="R56cd3c56ee574e8e" /><Relationship Type="http://schemas.openxmlformats.org/officeDocument/2006/relationships/font" Target="/ppt/fonts/font11.dat" Id="R4305ce0f119145bf" /><Relationship Type="http://schemas.openxmlformats.org/officeDocument/2006/relationships/font" Target="/ppt/fonts/font12.dat" Id="Rb7a55790e35a4905" /><Relationship Type="http://schemas.openxmlformats.org/officeDocument/2006/relationships/font" Target="/ppt/fonts/font13.dat" Id="R4dd3c8540d364cfd" /><Relationship Type="http://schemas.openxmlformats.org/officeDocument/2006/relationships/font" Target="/ppt/fonts/font14.dat" Id="Rab84f32ad887492c" /><Relationship Type="http://schemas.openxmlformats.org/officeDocument/2006/relationships/font" Target="/ppt/fonts/font15.dat" Id="R9cdff2df85044631" /><Relationship Type="http://schemas.openxmlformats.org/officeDocument/2006/relationships/font" Target="/ppt/fonts/font16.dat" Id="R20c43e3353334a5e" /><Relationship Type="http://schemas.openxmlformats.org/officeDocument/2006/relationships/font" Target="/ppt/fonts/font17.dat" Id="Ra5c37a7f5d214e75" /><Relationship Type="http://schemas.openxmlformats.org/officeDocument/2006/relationships/font" Target="/ppt/fonts/font18.dat" Id="R8e1e7af1660d4469" /><Relationship Type="http://schemas.openxmlformats.org/officeDocument/2006/relationships/font" Target="/ppt/fonts/font19.dat" Id="R1043c4ebfa14473d" /><Relationship Type="http://schemas.openxmlformats.org/officeDocument/2006/relationships/font" Target="/ppt/fonts/font20.dat" Id="R3bef0242b16f4232" /><Relationship Type="http://schemas.openxmlformats.org/officeDocument/2006/relationships/font" Target="/ppt/fonts/font21.dat" Id="R3fdba13512d54507" /><Relationship Type="http://schemas.openxmlformats.org/officeDocument/2006/relationships/font" Target="/ppt/fonts/font22.dat" Id="R3126a98287af481f" /><Relationship Type="http://schemas.openxmlformats.org/officeDocument/2006/relationships/font" Target="/ppt/fonts/font23.dat" Id="R8a95468fd96940e8" /><Relationship Type="http://schemas.openxmlformats.org/officeDocument/2006/relationships/font" Target="/ppt/fonts/font24.dat" Id="Ra6cc2cb6e8194edf" /><Relationship Type="http://schemas.openxmlformats.org/officeDocument/2006/relationships/slide" Target="/ppt/slides/slide1.xml" Id="R419d8ab8f6fd4127" /><Relationship Type="http://schemas.openxmlformats.org/officeDocument/2006/relationships/slide" Target="/ppt/slides/slide2.xml" Id="Rac3f384a973f4701" /><Relationship Type="http://schemas.openxmlformats.org/officeDocument/2006/relationships/slide" Target="/ppt/slides/slide3.xml" Id="R1dc4d2f8030c4c31" /><Relationship Type="http://schemas.openxmlformats.org/officeDocument/2006/relationships/slide" Target="/ppt/slides/slide4.xml" Id="Rd1c257369f55403e" /><Relationship Type="http://schemas.openxmlformats.org/officeDocument/2006/relationships/slide" Target="/ppt/slides/slide5.xml" Id="Ra08d2ea7e23748f6" /><Relationship Type="http://schemas.openxmlformats.org/officeDocument/2006/relationships/slide" Target="/ppt/slides/slide6.xml" Id="R9085373a04c74f2b" /><Relationship Type="http://schemas.openxmlformats.org/officeDocument/2006/relationships/slide" Target="/ppt/slides/slide7.xml" Id="R6738bb774aec4446" /><Relationship Type="http://schemas.openxmlformats.org/officeDocument/2006/relationships/slide" Target="/ppt/slides/slide8.xml" Id="R5f592d64dbfd404d" /><Relationship Type="http://schemas.openxmlformats.org/officeDocument/2006/relationships/slide" Target="/ppt/slides/slide9.xml" Id="Rcc0136bf55334631" /><Relationship Type="http://schemas.openxmlformats.org/officeDocument/2006/relationships/slide" Target="/ppt/slides/slide10.xml" Id="R6b793b308d394b24" /><Relationship Type="http://schemas.openxmlformats.org/officeDocument/2006/relationships/slide" Target="/ppt/slides/slide11.xml" Id="Rc6f4ddfddf4343e5" /><Relationship Type="http://schemas.openxmlformats.org/officeDocument/2006/relationships/slide" Target="/ppt/slides/slide12.xml" Id="Rc3986fb71ce14e0f" /><Relationship Type="http://schemas.openxmlformats.org/officeDocument/2006/relationships/slide" Target="/ppt/slides/slide13.xml" Id="R31c9605e45fc4a57" /><Relationship Type="http://schemas.openxmlformats.org/officeDocument/2006/relationships/slide" Target="/ppt/slides/slide14.xml" Id="Rc369db065fcc46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202733492942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f4f492b9524697" /><Relationship Type="http://schemas.openxmlformats.org/officeDocument/2006/relationships/notesMaster" Target="/ppt/notesMasters/notesMaster1.xml" Id="Rd0ee7ca565e440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0b49fa38274824" /><Relationship Type="http://schemas.openxmlformats.org/officeDocument/2006/relationships/notesMaster" Target="/ppt/notesMasters/notesMaster1.xml" Id="R9a0c1c4b755845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d19c4ad55d476d" /><Relationship Type="http://schemas.openxmlformats.org/officeDocument/2006/relationships/notesMaster" Target="/ppt/notesMasters/notesMaster1.xml" Id="Rbed9450b3ebf4e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c73f6829a14ca2" /><Relationship Type="http://schemas.openxmlformats.org/officeDocument/2006/relationships/notesMaster" Target="/ppt/notesMasters/notesMaster1.xml" Id="R8f94259b074b40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67541881eb4fe4" /><Relationship Type="http://schemas.openxmlformats.org/officeDocument/2006/relationships/notesMaster" Target="/ppt/notesMasters/notesMaster1.xml" Id="Ra7faf09c826b4c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cfeed876884eb3" /><Relationship Type="http://schemas.openxmlformats.org/officeDocument/2006/relationships/notesMaster" Target="/ppt/notesMasters/notesMaster1.xml" Id="R89b182ea209e48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9f6517459d4421" /><Relationship Type="http://schemas.openxmlformats.org/officeDocument/2006/relationships/notesMaster" Target="/ppt/notesMasters/notesMaster1.xml" Id="R54e2d3a990fd45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329f5850be49f1" /><Relationship Type="http://schemas.openxmlformats.org/officeDocument/2006/relationships/notesMaster" Target="/ppt/notesMasters/notesMaster1.xml" Id="R8e99789359a044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9500cb03dc4964" /><Relationship Type="http://schemas.openxmlformats.org/officeDocument/2006/relationships/notesMaster" Target="/ppt/notesMasters/notesMaster1.xml" Id="R72041f30198a40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11b01bfdbc4935" /><Relationship Type="http://schemas.openxmlformats.org/officeDocument/2006/relationships/notesMaster" Target="/ppt/notesMasters/notesMaster1.xml" Id="R18e716560fb940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c4fcc5b8fc440d" /><Relationship Type="http://schemas.openxmlformats.org/officeDocument/2006/relationships/notesMaster" Target="/ppt/notesMasters/notesMaster1.xml" Id="R2f42325105de47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04aec4d0424309" /><Relationship Type="http://schemas.openxmlformats.org/officeDocument/2006/relationships/notesMaster" Target="/ppt/notesMasters/notesMaster1.xml" Id="R346b7bfff3ee43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1b28b4f1bc448f" /><Relationship Type="http://schemas.openxmlformats.org/officeDocument/2006/relationships/notesMaster" Target="/ppt/notesMasters/notesMaster1.xml" Id="Rbe81f5fa208c49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eee60a6eca4f0d" /><Relationship Type="http://schemas.openxmlformats.org/officeDocument/2006/relationships/notesMaster" Target="/ppt/notesMasters/notesMaster1.xml" Id="R2a0c71c6056f4f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Nhóm không trình bày ba từ như ba khẩu hiệu đứng cạnh nhau. Nhóm đặt một câu hỏi: trong tư tưởng Hồ Chí Minh, ba giá trị liên hệ với nhau như thế nào?</a:t>
            </a:r>
          </a:p>
          <a:p xmlns:a="http://schemas.openxmlformats.org/drawingml/2006/main">
            <a:r>
              <a:t/>
            </a:r>
          </a:p>
          <a:p xmlns:a="http://schemas.openxmlformats.org/drawingml/2006/main">
            <a:r>
              <a:t>Luận đề trung tâm của nhóm: độc lập dân tộc không chỉ được xem như một trạng thái chính trị; ý nghĩa đầy đủ của độc lập cần được phân tích trong mối liên hệ với tự do, hạnh phúc và đời sống nhân dân. Đây là cách phân tích của nhóm, gợi ra từ Giáo trình 2019, tr.43 và Hồ Chí Minh Toàn tập, Tập 4, tr.64; không phải câu trích nguyên văn.</a:t>
            </a:r>
          </a:p>
          <a:p xmlns:a="http://schemas.openxmlformats.org/drawingml/2006/main">
            <a:r>
              <a:t/>
            </a:r>
          </a:p>
          <a:p xmlns:a="http://schemas.openxmlformats.org/drawingml/2006/main">
            <a:r>
              <a:t>Nguồn lý luận chính: Giáo trình Tư tưởng Hồ Chí Minh (Bộ GD&amp;ĐT, 2019), Chương III, tr.41–44; Hồ Chí Minh Toàn tập, Tập 4, tr.64, 175, 187.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bài nên nói như sau: “Nếu độc lập chỉ được hiểu là một trạng thái chính trị, chúng ta có thể dừng lại rất sớm. Nhưng trong hai văn bản năm 1945 và 1946, câu chuyện được kéo về với đời sống của nhân dân. Vì vậy, nhóm không bắt đầu bằng việc đọc ba định nghĩa rời rạc; nhóm bắt đầu bằng một câu hỏi.”</a:t>
            </a:r>
          </a:p>
          <a:p xmlns:a="http://schemas.openxmlformats.org/drawingml/2006/main">
            <a:r>
              <a:t/>
            </a:r>
          </a:p>
          <a:p xmlns:a="http://schemas.openxmlformats.org/drawingml/2006/main">
            <a:r>
              <a:t>Đọc ngắn hai trích dẫn. Sau đó hỏi người nghe: “Theo các bạn, câu hỏi này đang phủ nhận độc lập hay đang yêu cầu chúng ta làm rõ ý nghĩa của độc lập?” Câu trả lời sẽ dẫn sang phần lý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“chốt thesis”. Nói chậm: “Trong phạm vi các nguồn được chọn, nhóm cho rằng độc lập dân tộc không nên được hiểu chỉ như một trạng thái chính trị đã hoàn tất. Độc lập có ý nghĩa đầy đủ khi được gắn với tự do và hạnh phúc của nhân dân.”</a:t>
            </a:r>
          </a:p>
          <a:p xmlns:a="http://schemas.openxmlformats.org/drawingml/2006/main">
            <a:r>
              <a:t/>
            </a:r>
          </a:p>
          <a:p xmlns:a="http://schemas.openxmlformats.org/drawingml/2006/main">
            <a:r>
              <a:t>Nhấn mạnh đây là cách phân tích của nhóm, không phải câu trích nguyên văn. Ba thẻ bên dưới giúp tránh ba lỗi: tách rời giá trị, suy diễn nhân quả tự động, và nói không có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 nguồn lịch sử: Tập 4, tr.64 là “Thư gửi Ủy ban nhân dân các kỳ, tỉnh, huyện và làng”, ngày 17-10-1945. Tập 4, tr.175 là diễn văn ngày 10-01-1946.</a:t>
            </a:r>
          </a:p>
          <a:p xmlns:a="http://schemas.openxmlformats.org/drawingml/2006/main">
            <a:r>
              <a:t/>
            </a:r>
          </a:p>
          <a:p xmlns:a="http://schemas.openxmlformats.org/drawingml/2006/main">
            <a:r>
              <a:t>Scenario — tình huống giả định do nhóm tạo để kiểm tra tính nhất quán của lập luận; không phải số liệu thực tế và không đại diện cho một quốc gia cụ thể.</a:t>
            </a:r>
          </a:p>
          <a:p xmlns:a="http://schemas.openxmlformats.org/drawingml/2006/main">
            <a:r>
              <a:t/>
            </a:r>
          </a:p>
          <a:p xmlns:a="http://schemas.openxmlformats.org/drawingml/2006/main">
            <a:r>
              <a:t>Câu hỏi phản biện: nếu người nghe nói “độc lập là độc lập, không cần điều kiện khác”, nhóm trả lời rằng nguồn T4 tr.64 đặt chính câu hỏi về ý nghĩa của độc lập trong quan hệ với hạnh phúc, tự do của nhân dân.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quote 1: câu ở Tập 4, tr.64 là trục chính của bài. Khi trình bày, không cắt phần điều kiện “nếu nước độc lập mà dân không hưởng hạnh phúc tự do” để biến thành khẩu hiệu rời khỏi văn cảnh.</a:t>
            </a:r>
          </a:p>
          <a:p xmlns:a="http://schemas.openxmlformats.org/drawingml/2006/main">
            <a:r>
              <a:t/>
            </a:r>
          </a:p>
          <a:p xmlns:a="http://schemas.openxmlformats.org/drawingml/2006/main">
            <a:r>
              <a:t>Đọc quote 2: Tập 4, tr.175 cho thấy các mục tiêu đời sống cụ thể. Không gọi bốn điều kiện này là định nghĩa toàn bộ hạnh phúc; chỉ gọi là một phương diện thực tiễn.</a:t>
            </a:r>
          </a:p>
          <a:p xmlns:a="http://schemas.openxmlformats.org/drawingml/2006/main">
            <a:r>
              <a:t/>
            </a:r>
          </a:p>
          <a:p xmlns:a="http://schemas.openxmlformats.org/drawingml/2006/main">
            <a:r>
              <a:t>Nếu bị hỏi “tại sao không dùng tr.187 để định nghĩa hạnh phúc?”, trả lời: tr.187 hỗ trợ việc cụ thể hóa đời sống, nhưng nhóm không gán cho trang này một định nghĩa trực tiếp nếu nguồn không nói như vậy.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Concept.</a:t>
            </a:r>
          </a:p>
          <a:p xmlns:a="http://schemas.openxmlformats.org/drawingml/2006/main">
            <a:r>
              <a:t/>
            </a:r>
          </a:p>
          <a:p xmlns:a="http://schemas.openxmlformats.org/drawingml/2006/main">
            <a:r>
              <a:t>Cần nói chính xác: tr.41 và tr.44 là các tiêu đề/khung luận điểm của Giáo trình 2019, không phải câu nói trực tiếp của Hồ Chí Minh. Tr.43 là khung “độc lập dân tộc phải gắn liền với tự do, hạnh phúc của nhân dân”.</a:t>
            </a:r>
          </a:p>
          <a:p xmlns:a="http://schemas.openxmlformats.org/drawingml/2006/main">
            <a:r>
              <a:t/>
            </a:r>
          </a:p>
          <a:p xmlns:a="http://schemas.openxmlformats.org/drawingml/2006/main">
            <a:r>
              <a:t>“Nhân dân” xuất hiện trong slide như trung tâm tham chiếu của bản đồ, không phải giá trị thứ tư. “Hạnh phúc” được mở bằng một phương diện đời sống từ T4 tr.175, không tuyên bố đây là định nghĩa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vá lỗ hổng “mục A nói độc lập là chủ quyền, mục D lại nói độc lập là hạnh phúc”. Hai cách dùng không mâu thuẫn nếu nhóm nói rõ đây là hai phương diện phân tích.</a:t>
            </a:r>
          </a:p>
          <a:p xmlns:a="http://schemas.openxmlformats.org/drawingml/2006/main">
            <a:r>
              <a:t/>
            </a:r>
          </a:p>
          <a:p xmlns:a="http://schemas.openxmlformats.org/drawingml/2006/main">
            <a:r>
              <a:t>Không nói “hạnh phúc là thước đo duy nhất” hay “chưa hạnh phúc thì chưa độc lập”. Nói chính xác hơn: tự do, hạnh phúc và đời sống nhân dân là những phương diện giúp đọc ý nghĩa thực chất của nền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sản phẩm sáng tạo cốt lõi.</a:t>
            </a:r>
          </a:p>
          <a:p xmlns:a="http://schemas.openxmlformats.org/drawingml/2006/main">
            <a:r>
              <a:t/>
            </a:r>
          </a:p>
          <a:p xmlns:a="http://schemas.openxmlformats.org/drawingml/2006/main">
            <a:r>
              <a:t>Giải thích trực tiếp: “Nhân dân” không phải một giá trị thứ tư; đó là trung tâm tham chiếu để hỏi ba giá trị có ý nghĩa gì và hướng tới ai. Các đường nối không có mũi tên vì nhóm không tuyên bố quan hệ nhân quả tự động.</a:t>
            </a:r>
          </a:p>
          <a:p xmlns:a="http://schemas.openxmlformats.org/drawingml/2006/main">
            <a:r>
              <a:t/>
            </a:r>
          </a:p>
          <a:p xmlns:a="http://schemas.openxmlformats.org/drawingml/2006/main">
            <a:r>
              <a:t>Chú thích hạnh phúc*: tr.175 cho phép nhóm đưa ăn, mặc, ở, học hành vào một lớp thực tiễn; nhưng không được nói bốn điều này là toàn bộ định nghĩa hạnh phúc.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phần trình bày cho rubric 1.3. Đừng nói “web đẹp nên sáng tạo”. Hãy nói: “Hình thức web phục vụ một hành vi học tập: người xem chọn một giá trị, mở nguồn, rồi thử phản biện đường nối.”</a:t>
            </a:r>
          </a:p>
          <a:p xmlns:a="http://schemas.openxmlformats.org/drawingml/2006/main">
            <a:r>
              <a:t/>
            </a:r>
          </a:p>
          <a:p xmlns:a="http://schemas.openxmlformats.org/drawingml/2006/main">
            <a:r>
              <a:t>Khi demo, chọn một node “Hạnh phúc*”, mở chú thích ăn–mặc–ở–học hành, sau đó hỏi: “Đây có phải toàn bộ định nghĩa hạnh phúc không?” Người xem sẽ thấy ngay cách sản phẩm tự chứa cơ chế kiểm tra giới hạn.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thực tiễn và cách dùng:</a:t>
            </a:r>
          </a:p>
          <a:p xmlns:a="http://schemas.openxmlformats.org/drawingml/2006/main">
            <a:r>
              <a:t>1) VTV: https://vtv.vn/hang-van-nguoi-dan-hanh-phuc-xuc-dong-xem-dieu-binh-dieu-hanh-100250902143432491.htm — dùng để mô tả sự tham gia của hàng chục nghìn người, không nói đây là khảo sát đại diện hay tất cả người dân đều hạnh phúc.</a:t>
            </a:r>
          </a:p>
          <a:p xmlns:a="http://schemas.openxmlformats.org/drawingml/2006/main">
            <a:r>
              <a:t>2) VTV: https://vtv.vn/thtt-concert-quoc-gia-80-nam-hanh-trinh-doc-lap-tu-do-hanh-phuc-20h00-vtv1-100250901001944295.htm — tên đúng là “80 năm Hành trình Độc lập – Tự do – Hạnh phúc”, không gọi nhầm thành “Âm vang Tổ quốc” của năm 2025.</a:t>
            </a:r>
          </a:p>
          <a:p xmlns:a="http://schemas.openxmlformats.org/drawingml/2006/main">
            <a:r>
              <a:t>3) VietnamPlus/TTXVN: https://www.vietnamplus.vn/mua-do-la-ong-vua-moi-cua-dien-anh-viet-ky-luc-chua-tung-co-voi-phim-nha-nuoc-post1060417.vnp — doanh thu hơn 552 tỷ đồng tại thời điểm bài đăng, dùng như chỉ báo tiếp nhận thị trường.</a:t>
            </a:r>
          </a:p>
          <a:p xmlns:a="http://schemas.openxmlformats.org/drawingml/2006/main">
            <a:r>
              <a:t/>
            </a:r>
          </a:p>
          <a:p xmlns:a="http://schemas.openxmlformats.org/drawingml/2006/main">
            <a:r>
              <a:t>“Âm vang Tổ quốc” là chương trình năm 2026 nên không dùng làm ví dụ A80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để bảo vệ rubric 1.2. Nói theo ba bước: dữ kiện — diễn giải — giới hạn.</a:t>
            </a:r>
          </a:p>
          <a:p xmlns:a="http://schemas.openxmlformats.org/drawingml/2006/main">
            <a:r>
              <a:t/>
            </a:r>
          </a:p>
          <a:p xmlns:a="http://schemas.openxmlformats.org/drawingml/2006/main">
            <a:r>
              <a:t>Ví dụ: A80 cho thấy sự tham gia công cộng được VTV ghi nhận; không thể biến một bài báo thành khảo sát đại diện. Doanh thu Mưa đỏ cho thấy tiếp nhận thị trường; không thể dùng doanh thu để khẳng định mọi người xem đều có cùng cảm xúc.</a:t>
            </a:r>
          </a:p>
          <a:p xmlns:a="http://schemas.openxmlformats.org/drawingml/2006/main">
            <a:r>
              <a:t/>
            </a:r>
          </a:p>
          <a:p xmlns:a="http://schemas.openxmlformats.org/drawingml/2006/main">
            <a:r>
              <a:t>Kết luận chuyển tiếp: thực tiễn làm câu hỏi nổi bật, nhưng không thay thế nguồn lý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Conflict của 3C.</a:t>
            </a:r>
          </a:p>
          <a:p xmlns:a="http://schemas.openxmlformats.org/drawingml/2006/main">
            <a:r>
              <a:t/>
            </a:r>
          </a:p>
          <a:p xmlns:a="http://schemas.openxmlformats.org/drawingml/2006/main">
            <a:r>
              <a:t>Câu trả lời phải nói đủ ba lớp: (1) không phủ nhận độc lập chính trị; (2) không chấp nhận cách hiểu độc lập chỉ là hình thức; (3) không đưa ra phán xét tuyệt đối về một quốc gia.</a:t>
            </a:r>
          </a:p>
          <a:p xmlns:a="http://schemas.openxmlformats.org/drawingml/2006/main">
            <a:r>
              <a:t/>
            </a:r>
          </a:p>
          <a:p xmlns:a="http://schemas.openxmlformats.org/drawingml/2006/main">
            <a:r>
              <a:t>Nếu bị hỏi “vậy tiêu chuẩn hạnh phúc cụ thể là gì?”, trả lời: bài này không xây dựng một chỉ số hạnh phúc; T4 tr.175 chỉ được dùng như một phương diện đời sống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bạn học chọn một câu hỏi, không hỏi toàn bộ cùng lúc.</a:t>
            </a:r>
          </a:p>
          <a:p xmlns:a="http://schemas.openxmlformats.org/drawingml/2006/main">
            <a:r>
              <a:t/>
            </a:r>
          </a:p>
          <a:p xmlns:a="http://schemas.openxmlformats.org/drawingml/2006/main">
            <a:r>
              <a:t>Nếu câu hỏi ngoài phạm vi hai nguồn lý luận, nhóm nói rõ giới hạn và quay về source log. Đây là phần Interaction Matters: người nghe không chỉ xem sản phẩm mà còn kiểm tra đường nối của Meaning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cuối: đọc lại luận đề đúng phạm vi.</a:t>
            </a:r>
          </a:p>
          <a:p xmlns:a="http://schemas.openxmlformats.org/drawingml/2006/main">
            <a:r>
              <a:t/>
            </a:r>
          </a:p>
          <a:p xmlns:a="http://schemas.openxmlformats.org/drawingml/2006/main">
            <a:r>
              <a:t>Nhóm không nói ba giá trị là một khái niệm duy nhất. Nhóm cũng không nói tự do và hạnh phúc là kết quả tự động của độc lập. Nhóm chỉ kết luận rằng trong các nguồn đã chọn, độc lập được đặt trong mối liên hệ với tự do, hạnh phúc và đời sống nhân dân; đó là cơ sở để Meaning Map dùng “nhân dân” làm trung tâm tham chiếu.</a:t>
            </a:r>
          </a:p>
          <a:p xmlns:a="http://schemas.openxmlformats.org/drawingml/2006/main">
            <a:r>
              <a:t/>
            </a:r>
          </a:p>
          <a:p xmlns:a="http://schemas.openxmlformats.org/drawingml/2006/main">
            <a:r>
              <a:t>AI transparency: AI chỉ hỗ trợ nhóm brainstorm cấu trúc, gợi câu hỏi phản biện và hỗ trợ lọc nguồn; mọi trích dẫn lý luận và dữ liệu thực tiễn được nhóm kiểm tra lại bằng tài liệu gốc/nguồn chính thống.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cc5a1d8a2c49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7e4e31995a4d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833ffed4f64d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1d22dff85641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2f4347137044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31c07814bc4e7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ab4720089e04b2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61dc412fabb498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2a0c878a643b6" /><Relationship Type="http://schemas.openxmlformats.org/officeDocument/2006/relationships/slideLayout" Target="/ppt/slideLayouts/slideLayout1.xml" Id="Rd4b8dde4afc24e93" /><Relationship Type="http://schemas.openxmlformats.org/officeDocument/2006/relationships/slideLayout" Target="/ppt/slideLayouts/slideLayout2.xml" Id="R88b2735bc8484596" /><Relationship Type="http://schemas.openxmlformats.org/officeDocument/2006/relationships/slideLayout" Target="/ppt/slideLayouts/slideLayout3.xml" Id="R23f9b7e637cd4aa3" /><Relationship Type="http://schemas.openxmlformats.org/officeDocument/2006/relationships/slideLayout" Target="/ppt/slideLayouts/slideLayout4.xml" Id="Rb48961113baa437a" /><Relationship Type="http://schemas.openxmlformats.org/officeDocument/2006/relationships/slideLayout" Target="/ppt/slideLayouts/slideLayout5.xml" Id="R5e0568bfbc184929" /><Relationship Type="http://schemas.openxmlformats.org/officeDocument/2006/relationships/slideLayout" Target="/ppt/slideLayouts/slideLayout6.xml" Id="R6349f888e7e54e68" /><Relationship Type="http://schemas.openxmlformats.org/officeDocument/2006/relationships/slideLayout" Target="/ppt/slideLayouts/slideLayout7.xml" Id="Rdfa36dbbcf824374" /><Relationship Type="http://schemas.openxmlformats.org/officeDocument/2006/relationships/slideLayout" Target="/ppt/slideLayouts/slideLayout8.xml" Id="R42c97ed05dd1488a"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b8dde4afc24e93"/>
    <p:sldLayoutId xmlns:r="http://schemas.openxmlformats.org/officeDocument/2006/relationships" id="2147483650" r:id="R88b2735bc8484596"/>
    <p:sldLayoutId xmlns:r="http://schemas.openxmlformats.org/officeDocument/2006/relationships" id="2147483651" r:id="R23f9b7e637cd4aa3"/>
    <p:sldLayoutId xmlns:r="http://schemas.openxmlformats.org/officeDocument/2006/relationships" id="2147483652" r:id="Rb48961113baa437a"/>
    <p:sldLayoutId xmlns:r="http://schemas.openxmlformats.org/officeDocument/2006/relationships" id="2147483653" r:id="R5e0568bfbc184929"/>
    <p:sldLayoutId xmlns:r="http://schemas.openxmlformats.org/officeDocument/2006/relationships" id="2147483654" r:id="R6349f888e7e54e68"/>
    <p:sldLayoutId xmlns:r="http://schemas.openxmlformats.org/officeDocument/2006/relationships" id="2147483655" r:id="Rdfa36dbbcf824374"/>
    <p:sldLayoutId xmlns:r="http://schemas.openxmlformats.org/officeDocument/2006/relationships" id="2147483656" r:id="R42c97ed05dd1488a"/>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fe098cc700453e" /><Relationship Type="http://schemas.openxmlformats.org/officeDocument/2006/relationships/notesSlide" Target="/ppt/notesSlides/notesSlide1.xml" Id="R652b92078dab45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67aac8491cc45cd" /><Relationship Type="http://schemas.openxmlformats.org/officeDocument/2006/relationships/notesSlide" Target="/ppt/notesSlides/notesSlide2.xml" Id="Reab312f1f1f641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dfd47a5f22b74133" /><Relationship Type="http://schemas.openxmlformats.org/officeDocument/2006/relationships/notesSlide" Target="/ppt/notesSlides/notesSlide3.xml" Id="Rde873c129eb9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16c94f2913244435" /><Relationship Type="http://schemas.openxmlformats.org/officeDocument/2006/relationships/notesSlide" Target="/ppt/notesSlides/notesSlide4.xml" Id="R86d07a336f924b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6b1e6bcdffa34b2d" /><Relationship Type="http://schemas.openxmlformats.org/officeDocument/2006/relationships/notesSlide" Target="/ppt/notesSlides/notesSlide5.xml" Id="Rcbd3a17d1a2e4f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49de8542007f46ab" /><Relationship Type="http://schemas.openxmlformats.org/officeDocument/2006/relationships/notesSlide" Target="/ppt/notesSlides/notesSlide6.xml" Id="R00b9e26cd61a4e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33cde2671e014fb8" /><Relationship Type="http://schemas.openxmlformats.org/officeDocument/2006/relationships/notesSlide" Target="/ppt/notesSlides/notesSlide7.xml" Id="R38f5aa05e4b146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77af7fe2fe8e48a7" /><Relationship Type="http://schemas.openxmlformats.org/officeDocument/2006/relationships/notesSlide" Target="/ppt/notesSlides/notesSlide8.xml" Id="Re56987e6e8d642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1e80b79569604689" /><Relationship Type="http://schemas.openxmlformats.org/officeDocument/2006/relationships/notesSlide" Target="/ppt/notesSlides/notesSlide9.xml" Id="R603473ff691e42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ceed1da8c7a74314" /><Relationship Type="http://schemas.openxmlformats.org/officeDocument/2006/relationships/notesSlide" Target="/ppt/notesSlides/notesSlide10.xml" Id="Rcf38b03664f94d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1df3dc48dfae40c8" /><Relationship Type="http://schemas.openxmlformats.org/officeDocument/2006/relationships/notesSlide" Target="/ppt/notesSlides/notesSlide11.xml" Id="Re82e561530794c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8fca7a93690846a4" /><Relationship Type="http://schemas.openxmlformats.org/officeDocument/2006/relationships/notesSlide" Target="/ppt/notesSlides/notesSlide12.xml" Id="R68f6286d30b040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0e4f6f7e2eec4c6a" /><Relationship Type="http://schemas.openxmlformats.org/officeDocument/2006/relationships/notesSlide" Target="/ppt/notesSlides/notesSlide13.xml" Id="R9260ee1111394b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b57c514c2c0449c" /><Relationship Type="http://schemas.openxmlformats.org/officeDocument/2006/relationships/notesSlide" Target="/ppt/notesSlides/notesSlide14.xml" Id="R215f79e3a1cf4ead" /></Relationships>
</file>

<file path=ppt/slides/slide1.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839E508-80E4-4DD0-9AAF-F52B64CF8AD9}"/>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72450510-AF42-4730-A6D9-6C16BA6A977C}"/>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HCM202 / SPST • FALL 2026</a:t>
            </a:r>
          </a:p>
        </p:txBody>
      </p:sp>
      <p:sp>
        <p:nvSpPr>
          <p:cNvPr id="3" name="">
            <a:extLst xmlns:a="http://schemas.openxmlformats.org/drawingml/2006/main">
              <a:ext uri="{FF2B5EF4-FFF2-40B4-BE49-F238E27FC236}">
                <a16:creationId xmlns:a16="http://schemas.microsoft.com/office/drawing/2014/main" id="{7D3EE6BD-12C7-4577-B31C-2790C88DDD41}"/>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01</a:t>
            </a:r>
          </a:p>
        </p:txBody>
      </p:sp>
      <p:sp>
        <p:nvSpPr>
          <p:cNvPr id="4" name="">
            <a:extLst xmlns:a="http://schemas.openxmlformats.org/drawingml/2006/main">
              <a:ext uri="{FF2B5EF4-FFF2-40B4-BE49-F238E27FC236}">
                <a16:creationId xmlns:a16="http://schemas.microsoft.com/office/drawing/2014/main" id="{15515738-3DC2-4EE3-B214-D9FEB7CD6970}"/>
              </a:ext>
            </a:extLst>
          </p:cNvPr>
          <p:cNvSpPr>
            <a:spLocks xmlns:a="http://schemas.openxmlformats.org/drawingml/2006/main" noGrp="1"/>
          </p:cNvSpPr>
          <p:nvPr/>
        </p:nvSpPr>
        <p:spPr>
          <a:xfrm xmlns:a="http://schemas.openxmlformats.org/drawingml/2006/main">
            <a:off x="400050" y="4191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BỘ MÔN LÝ LUẬN CHÍNH TRỊ VÀ KỸ NĂNG MỀM</a:t>
            </a:r>
          </a:p>
        </p:txBody>
      </p:sp>
      <p:sp>
        <p:nvSpPr>
          <p:cNvPr id="5" name="">
            <a:extLst xmlns:a="http://schemas.openxmlformats.org/drawingml/2006/main">
              <a:ext uri="{FF2B5EF4-FFF2-40B4-BE49-F238E27FC236}">
                <a16:creationId xmlns:a16="http://schemas.microsoft.com/office/drawing/2014/main" id="{6BE461BD-AD16-412B-BA3B-D7E436CC3654}"/>
              </a:ext>
            </a:extLst>
          </p:cNvPr>
          <p:cNvSpPr>
            <a:spLocks xmlns:a="http://schemas.openxmlformats.org/drawingml/2006/main" noGrp="1"/>
          </p:cNvSpPr>
          <p:nvPr/>
        </p:nvSpPr>
        <p:spPr>
          <a:xfrm xmlns:a="http://schemas.openxmlformats.org/drawingml/2006/main">
            <a:off x="400050" y="876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58D"/>
                </a:solidFill>
                <a:latin typeface="Roboto"/>
                <a:ea typeface="Roboto"/>
                <a:cs typeface="Roboto"/>
              </a:defRPr>
            </a:pPr>
            <a:r>
              <a:rPr sz="1050" b="0" i="0">
                <a:solidFill>
                  <a:srgbClr val="68758D"/>
                </a:solidFill>
                <a:latin typeface="Roboto"/>
                <a:ea typeface="Roboto"/>
                <a:cs typeface="Roboto"/>
              </a:rPr>
              <a:t>HCM / SPST / C3-02</a:t>
            </a:r>
          </a:p>
        </p:txBody>
      </p:sp>
      <p:sp>
        <p:nvSpPr>
          <p:cNvPr id="6" name="">
            <a:extLst xmlns:a="http://schemas.openxmlformats.org/drawingml/2006/main">
              <a:ext uri="{FF2B5EF4-FFF2-40B4-BE49-F238E27FC236}">
                <a16:creationId xmlns:a16="http://schemas.microsoft.com/office/drawing/2014/main" id="{71D6C90F-D3CE-4B3A-AA92-9D8CC07FA3AF}"/>
              </a:ext>
            </a:extLst>
          </p:cNvPr>
          <p:cNvSpPr>
            <a:spLocks xmlns:a="http://schemas.openxmlformats.org/drawingml/2006/main" noGrp="1"/>
          </p:cNvSpPr>
          <p:nvPr/>
        </p:nvSpPr>
        <p:spPr>
          <a:xfrm xmlns:a="http://schemas.openxmlformats.org/drawingml/2006/main">
            <a:off x="400050" y="1352550"/>
            <a:ext cx="8096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300" b="1" i="0">
                <a:solidFill>
                  <a:srgbClr val="16213A"/>
                </a:solidFill>
                <a:latin typeface="Lora"/>
                <a:ea typeface="Lora"/>
                <a:cs typeface="Lora"/>
              </a:defRPr>
            </a:pPr>
            <a:r>
              <a:rPr sz="3300" b="1" i="0">
                <a:solidFill>
                  <a:srgbClr val="16213A"/>
                </a:solidFill>
                <a:latin typeface="Lora"/>
                <a:ea typeface="Lora"/>
                <a:cs typeface="Lora"/>
              </a:rPr>
              <a:t>Độc lập · Tự do · Hạnh phúc</a:t>
            </a:r>
          </a:p>
        </p:txBody>
      </p:sp>
      <p:sp>
        <p:nvSpPr>
          <p:cNvPr id="7" name="">
            <a:extLst xmlns:a="http://schemas.openxmlformats.org/drawingml/2006/main">
              <a:ext uri="{FF2B5EF4-FFF2-40B4-BE49-F238E27FC236}">
                <a16:creationId xmlns:a16="http://schemas.microsoft.com/office/drawing/2014/main" id="{9FD43229-1047-4CC7-89F2-4CE3ABE00DBD}"/>
              </a:ext>
            </a:extLst>
          </p:cNvPr>
          <p:cNvSpPr>
            <a:spLocks xmlns:a="http://schemas.openxmlformats.org/drawingml/2006/main" noGrp="1"/>
          </p:cNvSpPr>
          <p:nvPr/>
        </p:nvSpPr>
        <p:spPr>
          <a:xfrm xmlns:a="http://schemas.openxmlformats.org/drawingml/2006/main">
            <a:off x="400050" y="25336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234A8F"/>
                </a:solidFill>
                <a:latin typeface="Lora"/>
                <a:ea typeface="Lora"/>
                <a:cs typeface="Lora"/>
              </a:defRPr>
            </a:pPr>
            <a:r>
              <a:rPr sz="1950" b="1" i="0">
                <a:solidFill>
                  <a:srgbClr val="234A8F"/>
                </a:solidFill>
                <a:latin typeface="Lora"/>
                <a:ea typeface="Lora"/>
                <a:cs typeface="Lora"/>
              </a:rPr>
              <a:t>Meaning Map / Visual Essay</a:t>
            </a:r>
          </a:p>
        </p:txBody>
      </p:sp>
      <p:sp>
        <p:nvSpPr>
          <p:cNvPr id="8" name="">
            <a:extLst xmlns:a="http://schemas.openxmlformats.org/drawingml/2006/main">
              <a:ext uri="{FF2B5EF4-FFF2-40B4-BE49-F238E27FC236}">
                <a16:creationId xmlns:a16="http://schemas.microsoft.com/office/drawing/2014/main" id="{C5E8D1A6-B632-439A-B8ED-7CC08E14ABF3}"/>
              </a:ext>
            </a:extLst>
          </p:cNvPr>
          <p:cNvSpPr>
            <a:spLocks xmlns:a="http://schemas.openxmlformats.org/drawingml/2006/main" noGrp="1"/>
          </p:cNvSpPr>
          <p:nvPr/>
        </p:nvSpPr>
        <p:spPr>
          <a:xfrm xmlns:a="http://schemas.openxmlformats.org/drawingml/2006/main">
            <a:off x="400050" y="316230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350" b="0" i="0">
                <a:solidFill>
                  <a:srgbClr val="68758D"/>
                </a:solidFill>
                <a:latin typeface="Roboto"/>
                <a:ea typeface="Roboto"/>
                <a:cs typeface="Roboto"/>
              </a:defRPr>
            </a:pPr>
            <a:r>
              <a:rPr sz="1350" b="0" i="0">
                <a:solidFill>
                  <a:srgbClr val="68758D"/>
                </a:solidFill>
                <a:latin typeface="Roboto"/>
                <a:ea typeface="Roboto"/>
                <a:cs typeface="Roboto"/>
              </a:rPr>
              <a:t>Một bản đồ lập luận về ý nghĩa của độc lập trong mối liên hệ với tự do, hạnh phúc và đời sống nhân dân.</a:t>
            </a:r>
          </a:p>
        </p:txBody>
      </p:sp>
      <p:sp>
        <p:nvSpPr>
          <p:cNvPr id="9" name="">
            <a:extLst xmlns:a="http://schemas.openxmlformats.org/drawingml/2006/main">
              <a:ext uri="{FF2B5EF4-FFF2-40B4-BE49-F238E27FC236}">
                <a16:creationId xmlns:a16="http://schemas.microsoft.com/office/drawing/2014/main" id="{1594C0DE-E313-404D-A8C7-10D47959E04F}"/>
              </a:ext>
            </a:extLst>
          </p:cNvPr>
          <p:cNvSpPr>
            <a:spLocks xmlns:a="http://schemas.openxmlformats.org/drawingml/2006/main" noGrp="1"/>
          </p:cNvSpPr>
          <p:nvPr/>
        </p:nvSpPr>
        <p:spPr>
          <a:xfrm xmlns:a="http://schemas.openxmlformats.org/drawingml/2006/main">
            <a:off x="400050" y="4305300"/>
            <a:ext cx="6076950" cy="0"/>
          </a:xfrm>
          <a:prstGeom xmlns:a="http://schemas.openxmlformats.org/drawingml/2006/main" prst="line">
            <a:avLst/>
          </a:prstGeom>
          <a:noFill xmlns:a="http://schemas.openxmlformats.org/drawingml/2006/main"/>
          <a:ln xmlns:a="http://schemas.openxmlformats.org/drawingml/2006/main" w="9525">
            <a:solidFill>
              <a:srgbClr val="16213A"/>
            </a:solidFill>
            <a:prstDash val="solid"/>
          </a:ln>
        </p:spPr>
      </p:sp>
      <p:sp>
        <p:nvSpPr>
          <p:cNvPr id="10" name="">
            <a:extLst xmlns:a="http://schemas.openxmlformats.org/drawingml/2006/main">
              <a:ext uri="{FF2B5EF4-FFF2-40B4-BE49-F238E27FC236}">
                <a16:creationId xmlns:a16="http://schemas.microsoft.com/office/drawing/2014/main" id="{9A794ADC-3A68-4076-9A1A-C8F84AD3C8E2}"/>
              </a:ext>
            </a:extLst>
          </p:cNvPr>
          <p:cNvSpPr>
            <a:spLocks xmlns:a="http://schemas.openxmlformats.org/drawingml/2006/main" noGrp="1"/>
          </p:cNvSpPr>
          <p:nvPr/>
        </p:nvSpPr>
        <p:spPr>
          <a:xfrm xmlns:a="http://schemas.openxmlformats.org/drawingml/2006/main">
            <a:off x="400050" y="4552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Central Question</a:t>
            </a:r>
          </a:p>
        </p:txBody>
      </p:sp>
      <p:sp>
        <p:nvSpPr>
          <p:cNvPr id="11" name="">
            <a:extLst xmlns:a="http://schemas.openxmlformats.org/drawingml/2006/main">
              <a:ext uri="{FF2B5EF4-FFF2-40B4-BE49-F238E27FC236}">
                <a16:creationId xmlns:a16="http://schemas.microsoft.com/office/drawing/2014/main" id="{61ECF340-C9A6-4D14-9293-B2E8E4E8E67A}"/>
              </a:ext>
            </a:extLst>
          </p:cNvPr>
          <p:cNvSpPr>
            <a:spLocks xmlns:a="http://schemas.openxmlformats.org/drawingml/2006/main" noGrp="1"/>
          </p:cNvSpPr>
          <p:nvPr/>
        </p:nvSpPr>
        <p:spPr>
          <a:xfrm xmlns:a="http://schemas.openxmlformats.org/drawingml/2006/main">
            <a:off x="400050" y="483870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6213A"/>
                </a:solidFill>
                <a:latin typeface="Lora"/>
                <a:ea typeface="Lora"/>
                <a:cs typeface="Lora"/>
              </a:defRPr>
            </a:pPr>
            <a:r>
              <a:rPr sz="1650" b="1" i="0">
                <a:solidFill>
                  <a:srgbClr val="16213A"/>
                </a:solidFill>
                <a:latin typeface="Lora"/>
                <a:ea typeface="Lora"/>
                <a:cs typeface="Lora"/>
              </a:rPr>
              <a:t>Ba giá trị này liên hệ với nhau thế nào trong tư tưởng Hồ Chí Minh?</a:t>
            </a:r>
          </a:p>
        </p:txBody>
      </p:sp>
      <p:sp>
        <p:nvSpPr>
          <p:cNvPr id="12" name="">
            <a:extLst xmlns:a="http://schemas.openxmlformats.org/drawingml/2006/main">
              <a:ext uri="{FF2B5EF4-FFF2-40B4-BE49-F238E27FC236}">
                <a16:creationId xmlns:a16="http://schemas.microsoft.com/office/drawing/2014/main" id="{07F21763-073D-4B79-BD29-30473BC7AE01}"/>
              </a:ext>
            </a:extLst>
          </p:cNvPr>
          <p:cNvSpPr>
            <a:spLocks xmlns:a="http://schemas.openxmlformats.org/drawingml/2006/main" noGrp="1"/>
          </p:cNvSpPr>
          <p:nvPr/>
        </p:nvSpPr>
        <p:spPr>
          <a:xfrm xmlns:a="http://schemas.openxmlformats.org/drawingml/2006/main">
            <a:off x="8382000" y="1466850"/>
            <a:ext cx="2000250" cy="2000250"/>
          </a:xfrm>
          <a:prstGeom xmlns:a="http://schemas.openxmlformats.org/drawingml/2006/main" prst="ellipse">
            <a:avLst/>
          </a:prstGeom>
          <a:solidFill xmlns:a="http://schemas.openxmlformats.org/drawingml/2006/main">
            <a:srgbClr val="EAF1FB"/>
          </a:solidFill>
          <a:ln xmlns:a="http://schemas.openxmlformats.org/drawingml/2006/main" w="19050">
            <a:solidFill>
              <a:srgbClr val="2F5FB5"/>
            </a:solidFill>
            <a:prstDash val="solid"/>
          </a:ln>
        </p:spPr>
      </p:sp>
      <p:sp>
        <p:nvSpPr>
          <p:cNvPr id="13" name="">
            <a:extLst xmlns:a="http://schemas.openxmlformats.org/drawingml/2006/main">
              <a:ext uri="{FF2B5EF4-FFF2-40B4-BE49-F238E27FC236}">
                <a16:creationId xmlns:a16="http://schemas.microsoft.com/office/drawing/2014/main" id="{2D820AB4-462E-4976-B6F1-4B1ACF872D7C}"/>
              </a:ext>
            </a:extLst>
          </p:cNvPr>
          <p:cNvSpPr>
            <a:spLocks xmlns:a="http://schemas.openxmlformats.org/drawingml/2006/main" noGrp="1"/>
          </p:cNvSpPr>
          <p:nvPr/>
        </p:nvSpPr>
        <p:spPr>
          <a:xfrm xmlns:a="http://schemas.openxmlformats.org/drawingml/2006/main">
            <a:off x="9048750" y="2133600"/>
            <a:ext cx="2000250" cy="2000250"/>
          </a:xfrm>
          <a:prstGeom xmlns:a="http://schemas.openxmlformats.org/drawingml/2006/main" prst="ellipse">
            <a:avLst/>
          </a:prstGeom>
          <a:solidFill xmlns:a="http://schemas.openxmlformats.org/drawingml/2006/main">
            <a:srgbClr val="FBF4E4"/>
          </a:solidFill>
          <a:ln xmlns:a="http://schemas.openxmlformats.org/drawingml/2006/main" w="19050">
            <a:solidFill>
              <a:srgbClr val="C99428"/>
            </a:solidFill>
            <a:prstDash val="solid"/>
          </a:ln>
        </p:spPr>
      </p:sp>
      <p:sp>
        <p:nvSpPr>
          <p:cNvPr id="14" name="">
            <a:extLst xmlns:a="http://schemas.openxmlformats.org/drawingml/2006/main">
              <a:ext uri="{FF2B5EF4-FFF2-40B4-BE49-F238E27FC236}">
                <a16:creationId xmlns:a16="http://schemas.microsoft.com/office/drawing/2014/main" id="{4EB073E3-4FB1-40D1-99D2-278AB9261D47}"/>
              </a:ext>
            </a:extLst>
          </p:cNvPr>
          <p:cNvSpPr>
            <a:spLocks xmlns:a="http://schemas.openxmlformats.org/drawingml/2006/main" noGrp="1"/>
          </p:cNvSpPr>
          <p:nvPr/>
        </p:nvSpPr>
        <p:spPr>
          <a:xfrm xmlns:a="http://schemas.openxmlformats.org/drawingml/2006/main">
            <a:off x="9696450" y="2800350"/>
            <a:ext cx="2000250" cy="2000250"/>
          </a:xfrm>
          <a:prstGeom xmlns:a="http://schemas.openxmlformats.org/drawingml/2006/main" prst="ellipse">
            <a:avLst/>
          </a:prstGeom>
          <a:solidFill xmlns:a="http://schemas.openxmlformats.org/drawingml/2006/main">
            <a:srgbClr val="F8ECEB"/>
          </a:solidFill>
          <a:ln xmlns:a="http://schemas.openxmlformats.org/drawingml/2006/main" w="19050">
            <a:solidFill>
              <a:srgbClr val="A64242"/>
            </a:solidFill>
            <a:prstDash val="solid"/>
          </a:ln>
        </p:spPr>
      </p:sp>
      <p:sp>
        <p:nvSpPr>
          <p:cNvPr id="15" name="">
            <a:extLst xmlns:a="http://schemas.openxmlformats.org/drawingml/2006/main">
              <a:ext uri="{FF2B5EF4-FFF2-40B4-BE49-F238E27FC236}">
                <a16:creationId xmlns:a16="http://schemas.microsoft.com/office/drawing/2014/main" id="{69739140-25BC-4D6D-9C9A-D03B1239D50A}"/>
              </a:ext>
            </a:extLst>
          </p:cNvPr>
          <p:cNvSpPr>
            <a:spLocks xmlns:a="http://schemas.openxmlformats.org/drawingml/2006/main" noGrp="1"/>
          </p:cNvSpPr>
          <p:nvPr/>
        </p:nvSpPr>
        <p:spPr>
          <a:xfrm xmlns:a="http://schemas.openxmlformats.org/drawingml/2006/main">
            <a:off x="8572500" y="2190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A8F"/>
                </a:solidFill>
                <a:latin typeface="Roboto"/>
                <a:ea typeface="Roboto"/>
                <a:cs typeface="Roboto"/>
              </a:defRPr>
            </a:pPr>
            <a:r>
              <a:rPr sz="1350" b="1" i="0">
                <a:solidFill>
                  <a:srgbClr val="234A8F"/>
                </a:solidFill>
                <a:latin typeface="Roboto"/>
                <a:ea typeface="Roboto"/>
                <a:cs typeface="Roboto"/>
              </a:rPr>
              <a:t>ĐỘC LẬP</a:t>
            </a:r>
          </a:p>
        </p:txBody>
      </p:sp>
      <p:sp>
        <p:nvSpPr>
          <p:cNvPr id="16" name="">
            <a:extLst xmlns:a="http://schemas.openxmlformats.org/drawingml/2006/main">
              <a:ext uri="{FF2B5EF4-FFF2-40B4-BE49-F238E27FC236}">
                <a16:creationId xmlns:a16="http://schemas.microsoft.com/office/drawing/2014/main" id="{5C055BED-683D-4A56-BD83-CE865F4900B7}"/>
              </a:ext>
            </a:extLst>
          </p:cNvPr>
          <p:cNvSpPr>
            <a:spLocks xmlns:a="http://schemas.openxmlformats.org/drawingml/2006/main" noGrp="1"/>
          </p:cNvSpPr>
          <p:nvPr/>
        </p:nvSpPr>
        <p:spPr>
          <a:xfrm xmlns:a="http://schemas.openxmlformats.org/drawingml/2006/main">
            <a:off x="9239250" y="2857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8A651F"/>
                </a:solidFill>
                <a:latin typeface="Roboto"/>
                <a:ea typeface="Roboto"/>
                <a:cs typeface="Roboto"/>
              </a:defRPr>
            </a:pPr>
            <a:r>
              <a:rPr sz="1350" b="1" i="0">
                <a:solidFill>
                  <a:srgbClr val="8A651F"/>
                </a:solidFill>
                <a:latin typeface="Roboto"/>
                <a:ea typeface="Roboto"/>
                <a:cs typeface="Roboto"/>
              </a:rPr>
              <a:t>TỰ DO</a:t>
            </a:r>
          </a:p>
        </p:txBody>
      </p:sp>
      <p:sp>
        <p:nvSpPr>
          <p:cNvPr id="17" name="">
            <a:extLst xmlns:a="http://schemas.openxmlformats.org/drawingml/2006/main">
              <a:ext uri="{FF2B5EF4-FFF2-40B4-BE49-F238E27FC236}">
                <a16:creationId xmlns:a16="http://schemas.microsoft.com/office/drawing/2014/main" id="{0B340B24-8781-432C-8B01-DF442A1B1237}"/>
              </a:ext>
            </a:extLst>
          </p:cNvPr>
          <p:cNvSpPr>
            <a:spLocks xmlns:a="http://schemas.openxmlformats.org/drawingml/2006/main" noGrp="1"/>
          </p:cNvSpPr>
          <p:nvPr/>
        </p:nvSpPr>
        <p:spPr>
          <a:xfrm xmlns:a="http://schemas.openxmlformats.org/drawingml/2006/main">
            <a:off x="9734550" y="35242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A64242"/>
                </a:solidFill>
                <a:latin typeface="Roboto"/>
                <a:ea typeface="Roboto"/>
                <a:cs typeface="Roboto"/>
              </a:defRPr>
            </a:pPr>
            <a:r>
              <a:rPr sz="1200" b="1" i="0">
                <a:solidFill>
                  <a:srgbClr val="A64242"/>
                </a:solidFill>
                <a:latin typeface="Roboto"/>
                <a:ea typeface="Roboto"/>
                <a:cs typeface="Roboto"/>
              </a:rPr>
              <a:t>HẠNH PHÚC</a:t>
            </a:r>
          </a:p>
        </p:txBody>
      </p:sp>
      <p:sp>
        <p:nvSpPr>
          <p:cNvPr id="18" name="">
            <a:extLst xmlns:a="http://schemas.openxmlformats.org/drawingml/2006/main">
              <a:ext uri="{FF2B5EF4-FFF2-40B4-BE49-F238E27FC236}">
                <a16:creationId xmlns:a16="http://schemas.microsoft.com/office/drawing/2014/main" id="{36B6E9F1-744F-4581-99AA-506FFA3A276D}"/>
              </a:ext>
            </a:extLst>
          </p:cNvPr>
          <p:cNvSpPr>
            <a:spLocks xmlns:a="http://schemas.openxmlformats.org/drawingml/2006/main" noGrp="1"/>
          </p:cNvSpPr>
          <p:nvPr/>
        </p:nvSpPr>
        <p:spPr>
          <a:xfrm xmlns:a="http://schemas.openxmlformats.org/drawingml/2006/main">
            <a:off x="7905750" y="5200650"/>
            <a:ext cx="352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BẢN ĐỒ KHÔNG PHẢI CHUỖI NHÂN QUẢ TỰ ĐỘNG</a:t>
            </a:r>
          </a:p>
        </p:txBody>
      </p:sp>
    </p:spTree>
    <p:extLst>
      <p:ext uri="{BB962C8B-B14F-4D97-AF65-F5344CB8AC3E}">
        <p14:creationId xmlns:p14="http://schemas.microsoft.com/office/powerpoint/2010/main" val="484088043"/>
      </p:ext>
    </p:extLst>
  </p:cSld>
</p:sld>
</file>

<file path=ppt/slides/slide2.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CC79DD-75AD-46D8-B264-C980276E27CD}"/>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56976B6B-4319-46D1-8B0C-7994D0578A52}"/>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LỘ TRÌNH LẬP LUẬN</a:t>
            </a:r>
          </a:p>
        </p:txBody>
      </p:sp>
      <p:sp>
        <p:nvSpPr>
          <p:cNvPr id="3" name="">
            <a:extLst xmlns:a="http://schemas.openxmlformats.org/drawingml/2006/main">
              <a:ext uri="{FF2B5EF4-FFF2-40B4-BE49-F238E27FC236}">
                <a16:creationId xmlns:a16="http://schemas.microsoft.com/office/drawing/2014/main" id="{E3664078-A95B-489D-89FF-14DA0878E18A}"/>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02</a:t>
            </a:r>
          </a:p>
        </p:txBody>
      </p:sp>
      <p:sp>
        <p:nvSpPr>
          <p:cNvPr id="4" name="">
            <a:extLst xmlns:a="http://schemas.openxmlformats.org/drawingml/2006/main">
              <a:ext uri="{FF2B5EF4-FFF2-40B4-BE49-F238E27FC236}">
                <a16:creationId xmlns:a16="http://schemas.microsoft.com/office/drawing/2014/main" id="{A9A96478-CAB4-4F73-9825-0C395E1D2383}"/>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MỞ VẤN ĐỀ</a:t>
            </a:r>
          </a:p>
        </p:txBody>
      </p:sp>
      <p:sp>
        <p:nvSpPr>
          <p:cNvPr id="5" name="">
            <a:extLst xmlns:a="http://schemas.openxmlformats.org/drawingml/2006/main">
              <a:ext uri="{FF2B5EF4-FFF2-40B4-BE49-F238E27FC236}">
                <a16:creationId xmlns:a16="http://schemas.microsoft.com/office/drawing/2014/main" id="{0D58EE8C-5410-4843-91AB-BEED48D14584}"/>
              </a:ext>
            </a:extLst>
          </p:cNvPr>
          <p:cNvSpPr>
            <a:spLocks xmlns:a="http://schemas.openxmlformats.org/drawingml/2006/main" noGrp="1"/>
          </p:cNvSpPr>
          <p:nvPr/>
        </p:nvSpPr>
        <p:spPr>
          <a:xfrm xmlns:a="http://schemas.openxmlformats.org/drawingml/2006/main">
            <a:off x="400050" y="6477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Một nền độc lập có đủ ý nghĩa nếu người dân chưa được hưởng tự do và hạnh phúc?</a:t>
            </a:r>
          </a:p>
        </p:txBody>
      </p:sp>
      <p:sp>
        <p:nvSpPr>
          <p:cNvPr id="6" name="">
            <a:extLst xmlns:a="http://schemas.openxmlformats.org/drawingml/2006/main">
              <a:ext uri="{FF2B5EF4-FFF2-40B4-BE49-F238E27FC236}">
                <a16:creationId xmlns:a16="http://schemas.microsoft.com/office/drawing/2014/main" id="{86584D4A-67FD-468E-BCCD-AD7261FFBD58}"/>
              </a:ext>
            </a:extLst>
          </p:cNvPr>
          <p:cNvSpPr>
            <a:spLocks xmlns:a="http://schemas.openxmlformats.org/drawingml/2006/main" noGrp="1"/>
          </p:cNvSpPr>
          <p:nvPr/>
        </p:nvSpPr>
        <p:spPr>
          <a:xfrm xmlns:a="http://schemas.openxmlformats.org/drawingml/2006/main">
            <a:off x="400050" y="156210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Nhóm không bắt đầu bằng việc định nghĩa ba từ. Nhóm bắt đầu bằng một vấn đề cần được lý giải.</a:t>
            </a:r>
          </a:p>
        </p:txBody>
      </p:sp>
      <p:sp>
        <p:nvSpPr>
          <p:cNvPr id="7" name="">
            <a:extLst xmlns:a="http://schemas.openxmlformats.org/drawingml/2006/main">
              <a:ext uri="{FF2B5EF4-FFF2-40B4-BE49-F238E27FC236}">
                <a16:creationId xmlns:a16="http://schemas.microsoft.com/office/drawing/2014/main" id="{BECB67CC-387D-4098-9B43-890F2C7CCF6F}"/>
              </a:ext>
            </a:extLst>
          </p:cNvPr>
          <p:cNvSpPr>
            <a:spLocks xmlns:a="http://schemas.openxmlformats.org/drawingml/2006/main" noGrp="1"/>
          </p:cNvSpPr>
          <p:nvPr/>
        </p:nvSpPr>
        <p:spPr>
          <a:xfrm xmlns:a="http://schemas.openxmlformats.org/drawingml/2006/main">
            <a:off x="400050" y="2286000"/>
            <a:ext cx="5334000" cy="2571750"/>
          </a:xfrm>
          <a:prstGeom xmlns:a="http://schemas.openxmlformats.org/drawingml/2006/main" prst="roundRect">
            <a:avLst>
              <a:gd name="adj" fmla="val 5185"/>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7294313A-44B8-4CB5-9C17-A80CDF9C0DA9}"/>
              </a:ext>
            </a:extLst>
          </p:cNvPr>
          <p:cNvSpPr>
            <a:spLocks xmlns:a="http://schemas.openxmlformats.org/drawingml/2006/main" noGrp="1"/>
          </p:cNvSpPr>
          <p:nvPr/>
        </p:nvSpPr>
        <p:spPr>
          <a:xfrm xmlns:a="http://schemas.openxmlformats.org/drawingml/2006/main">
            <a:off x="552450" y="24574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4947C853-F5DD-4760-B659-5CFF26D1E20C}"/>
              </a:ext>
            </a:extLst>
          </p:cNvPr>
          <p:cNvSpPr>
            <a:spLocks xmlns:a="http://schemas.openxmlformats.org/drawingml/2006/main" noGrp="1"/>
          </p:cNvSpPr>
          <p:nvPr/>
        </p:nvSpPr>
        <p:spPr>
          <a:xfrm xmlns:a="http://schemas.openxmlformats.org/drawingml/2006/main">
            <a:off x="742950" y="2457450"/>
            <a:ext cx="483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VĂN BẢN 1945</a:t>
            </a:r>
          </a:p>
        </p:txBody>
      </p:sp>
      <p:sp>
        <p:nvSpPr>
          <p:cNvPr id="10" name="">
            <a:extLst xmlns:a="http://schemas.openxmlformats.org/drawingml/2006/main">
              <a:ext uri="{FF2B5EF4-FFF2-40B4-BE49-F238E27FC236}">
                <a16:creationId xmlns:a16="http://schemas.microsoft.com/office/drawing/2014/main" id="{2D9F8886-B9AA-437C-AA4C-AC7B8AD2F516}"/>
              </a:ext>
            </a:extLst>
          </p:cNvPr>
          <p:cNvSpPr>
            <a:spLocks xmlns:a="http://schemas.openxmlformats.org/drawingml/2006/main" noGrp="1"/>
          </p:cNvSpPr>
          <p:nvPr/>
        </p:nvSpPr>
        <p:spPr>
          <a:xfrm xmlns:a="http://schemas.openxmlformats.org/drawingml/2006/main">
            <a:off x="742950" y="2686050"/>
            <a:ext cx="483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Độc lập được hỏi bằng đời sống của dân</a:t>
            </a:r>
          </a:p>
        </p:txBody>
      </p:sp>
      <p:sp>
        <p:nvSpPr>
          <p:cNvPr id="11" name="">
            <a:extLst xmlns:a="http://schemas.openxmlformats.org/drawingml/2006/main">
              <a:ext uri="{FF2B5EF4-FFF2-40B4-BE49-F238E27FC236}">
                <a16:creationId xmlns:a16="http://schemas.microsoft.com/office/drawing/2014/main" id="{510A597B-4C3C-433A-9947-EFC2F8CB357E}"/>
              </a:ext>
            </a:extLst>
          </p:cNvPr>
          <p:cNvSpPr>
            <a:spLocks xmlns:a="http://schemas.openxmlformats.org/drawingml/2006/main" noGrp="1"/>
          </p:cNvSpPr>
          <p:nvPr/>
        </p:nvSpPr>
        <p:spPr>
          <a:xfrm xmlns:a="http://schemas.openxmlformats.org/drawingml/2006/main">
            <a:off x="742950" y="3086100"/>
            <a:ext cx="48387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“...nếu nước độc lập mà dân không hưởng hạnh phúc tự do, thì độc lập cũng chẳng có nghĩa lý gì.”</a:t>
            </a:r>
          </a:p>
          <a:p xmlns:a="http://schemas.openxmlformats.org/drawingml/2006/main">
            <a:r>
              <a:t/>
            </a:r>
          </a:p>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Câu hỏi không phủ nhận độc lập; câu hỏi yêu cầu làm rõ ý nghĩa của độc lập.</a:t>
            </a:r>
          </a:p>
        </p:txBody>
      </p:sp>
      <p:sp>
        <p:nvSpPr>
          <p:cNvPr id="12" name="">
            <a:extLst xmlns:a="http://schemas.openxmlformats.org/drawingml/2006/main">
              <a:ext uri="{FF2B5EF4-FFF2-40B4-BE49-F238E27FC236}">
                <a16:creationId xmlns:a16="http://schemas.microsoft.com/office/drawing/2014/main" id="{594646AF-3764-4F9C-9095-76F1B29964C2}"/>
              </a:ext>
            </a:extLst>
          </p:cNvPr>
          <p:cNvSpPr>
            <a:spLocks xmlns:a="http://schemas.openxmlformats.org/drawingml/2006/main" noGrp="1"/>
          </p:cNvSpPr>
          <p:nvPr/>
        </p:nvSpPr>
        <p:spPr>
          <a:xfrm xmlns:a="http://schemas.openxmlformats.org/drawingml/2006/main">
            <a:off x="6457950" y="2286000"/>
            <a:ext cx="5334000" cy="2571750"/>
          </a:xfrm>
          <a:prstGeom xmlns:a="http://schemas.openxmlformats.org/drawingml/2006/main" prst="roundRect">
            <a:avLst>
              <a:gd name="adj" fmla="val 5185"/>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A9AEC675-8181-403A-96B6-7833BE514A77}"/>
              </a:ext>
            </a:extLst>
          </p:cNvPr>
          <p:cNvSpPr>
            <a:spLocks xmlns:a="http://schemas.openxmlformats.org/drawingml/2006/main" noGrp="1"/>
          </p:cNvSpPr>
          <p:nvPr/>
        </p:nvSpPr>
        <p:spPr>
          <a:xfrm xmlns:a="http://schemas.openxmlformats.org/drawingml/2006/main">
            <a:off x="6610350" y="24574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B41D6617-8247-4EB7-B625-A7B95C1F6303}"/>
              </a:ext>
            </a:extLst>
          </p:cNvPr>
          <p:cNvSpPr>
            <a:spLocks xmlns:a="http://schemas.openxmlformats.org/drawingml/2006/main" noGrp="1"/>
          </p:cNvSpPr>
          <p:nvPr/>
        </p:nvSpPr>
        <p:spPr>
          <a:xfrm xmlns:a="http://schemas.openxmlformats.org/drawingml/2006/main">
            <a:off x="6800850" y="2457450"/>
            <a:ext cx="483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VĂN BẢN 1946</a:t>
            </a:r>
          </a:p>
        </p:txBody>
      </p:sp>
      <p:sp>
        <p:nvSpPr>
          <p:cNvPr id="15" name="">
            <a:extLst xmlns:a="http://schemas.openxmlformats.org/drawingml/2006/main">
              <a:ext uri="{FF2B5EF4-FFF2-40B4-BE49-F238E27FC236}">
                <a16:creationId xmlns:a16="http://schemas.microsoft.com/office/drawing/2014/main" id="{61D0111D-E6F0-4BFA-85D5-95930FF1A782}"/>
              </a:ext>
            </a:extLst>
          </p:cNvPr>
          <p:cNvSpPr>
            <a:spLocks xmlns:a="http://schemas.openxmlformats.org/drawingml/2006/main" noGrp="1"/>
          </p:cNvSpPr>
          <p:nvPr/>
        </p:nvSpPr>
        <p:spPr>
          <a:xfrm xmlns:a="http://schemas.openxmlformats.org/drawingml/2006/main">
            <a:off x="6800850" y="2686050"/>
            <a:ext cx="483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Mục tiêu chính trị đi vào điều kiện cụ thể</a:t>
            </a:r>
          </a:p>
        </p:txBody>
      </p:sp>
      <p:sp>
        <p:nvSpPr>
          <p:cNvPr id="16" name="">
            <a:extLst xmlns:a="http://schemas.openxmlformats.org/drawingml/2006/main">
              <a:ext uri="{FF2B5EF4-FFF2-40B4-BE49-F238E27FC236}">
                <a16:creationId xmlns:a16="http://schemas.microsoft.com/office/drawing/2014/main" id="{A5A8F59D-BDA6-4290-B46B-9380BB708DDB}"/>
              </a:ext>
            </a:extLst>
          </p:cNvPr>
          <p:cNvSpPr>
            <a:spLocks xmlns:a="http://schemas.openxmlformats.org/drawingml/2006/main" noGrp="1"/>
          </p:cNvSpPr>
          <p:nvPr/>
        </p:nvSpPr>
        <p:spPr>
          <a:xfrm xmlns:a="http://schemas.openxmlformats.org/drawingml/2006/main">
            <a:off x="6800850" y="3086100"/>
            <a:ext cx="48387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“Làm cho dân có ăn. Làm cho dân có mặc. Làm cho dân có chỗ ở. Làm cho dân có học hành.”</a:t>
            </a:r>
          </a:p>
          <a:p xmlns:a="http://schemas.openxmlformats.org/drawingml/2006/main">
            <a:r>
              <a:t/>
            </a:r>
          </a:p>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Từ giá trị chính trị, văn bản chỉ ra hướng đi vào đời sống.</a:t>
            </a:r>
          </a:p>
        </p:txBody>
      </p:sp>
      <p:sp>
        <p:nvSpPr>
          <p:cNvPr id="17" name="">
            <a:extLst xmlns:a="http://schemas.openxmlformats.org/drawingml/2006/main">
              <a:ext uri="{FF2B5EF4-FFF2-40B4-BE49-F238E27FC236}">
                <a16:creationId xmlns:a16="http://schemas.microsoft.com/office/drawing/2014/main" id="{BF33636A-0FEC-4007-9D61-09A00C5E347E}"/>
              </a:ext>
            </a:extLst>
          </p:cNvPr>
          <p:cNvSpPr>
            <a:spLocks xmlns:a="http://schemas.openxmlformats.org/drawingml/2006/main" noGrp="1"/>
          </p:cNvSpPr>
          <p:nvPr/>
        </p:nvSpPr>
        <p:spPr>
          <a:xfrm xmlns:a="http://schemas.openxmlformats.org/drawingml/2006/main">
            <a:off x="40005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Vì vậy, Central Question của nhóm là: ba giá trị này liên hệ với nhau thế nào trong tư tưởng Hồ Chí Minh?</a:t>
            </a:r>
          </a:p>
        </p:txBody>
      </p:sp>
      <p:sp>
        <p:nvSpPr>
          <p:cNvPr id="18" name="">
            <a:extLst xmlns:a="http://schemas.openxmlformats.org/drawingml/2006/main">
              <a:ext uri="{FF2B5EF4-FFF2-40B4-BE49-F238E27FC236}">
                <a16:creationId xmlns:a16="http://schemas.microsoft.com/office/drawing/2014/main" id="{57AE764C-8A08-4390-9009-3349F980A232}"/>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Hồ Chí Minh Toàn tập, Tập 4, tr.64 và tr.175.</a:t>
            </a:r>
          </a:p>
        </p:txBody>
      </p:sp>
    </p:spTree>
    <p:extLst>
      <p:ext uri="{BB962C8B-B14F-4D97-AF65-F5344CB8AC3E}">
        <p14:creationId xmlns:p14="http://schemas.microsoft.com/office/powerpoint/2010/main" val="349396723"/>
      </p:ext>
    </p:extLst>
  </p:cSld>
</p:sld>
</file>

<file path=ppt/slides/slide3.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0437639-185D-42EC-A084-941D7E11F6A8}"/>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79ABC0D0-A9A2-4690-8208-DF7B8A53FBAD}"/>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ONE CENTRAL ARGUMENT</a:t>
            </a:r>
          </a:p>
        </p:txBody>
      </p:sp>
      <p:sp>
        <p:nvSpPr>
          <p:cNvPr id="3" name="">
            <a:extLst xmlns:a="http://schemas.openxmlformats.org/drawingml/2006/main">
              <a:ext uri="{FF2B5EF4-FFF2-40B4-BE49-F238E27FC236}">
                <a16:creationId xmlns:a16="http://schemas.microsoft.com/office/drawing/2014/main" id="{81665D1F-3BF6-4529-9CFC-E03C3CC24D06}"/>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03</a:t>
            </a:r>
          </a:p>
        </p:txBody>
      </p:sp>
      <p:sp>
        <p:nvSpPr>
          <p:cNvPr id="4" name="">
            <a:extLst xmlns:a="http://schemas.openxmlformats.org/drawingml/2006/main">
              <a:ext uri="{FF2B5EF4-FFF2-40B4-BE49-F238E27FC236}">
                <a16:creationId xmlns:a16="http://schemas.microsoft.com/office/drawing/2014/main" id="{201114BA-CCCE-4659-B2A8-B0B6FF1D61F0}"/>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LUẬN ĐỀ TRUNG TÂM</a:t>
            </a:r>
          </a:p>
        </p:txBody>
      </p:sp>
      <p:sp>
        <p:nvSpPr>
          <p:cNvPr id="5" name="">
            <a:extLst xmlns:a="http://schemas.openxmlformats.org/drawingml/2006/main">
              <a:ext uri="{FF2B5EF4-FFF2-40B4-BE49-F238E27FC236}">
                <a16:creationId xmlns:a16="http://schemas.microsoft.com/office/drawing/2014/main" id="{0D344B57-F5A1-460C-96FF-F56B2952D546}"/>
              </a:ext>
            </a:extLst>
          </p:cNvPr>
          <p:cNvSpPr>
            <a:spLocks xmlns:a="http://schemas.openxmlformats.org/drawingml/2006/main" noGrp="1"/>
          </p:cNvSpPr>
          <p:nvPr/>
        </p:nvSpPr>
        <p:spPr>
          <a:xfrm xmlns:a="http://schemas.openxmlformats.org/drawingml/2006/main">
            <a:off x="400050" y="647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Chúng tôi không xếp ba giá trị thành một khẩu hiệu tuyến tính</a:t>
            </a:r>
          </a:p>
        </p:txBody>
      </p:sp>
      <p:sp>
        <p:nvSpPr>
          <p:cNvPr id="6" name="">
            <a:extLst xmlns:a="http://schemas.openxmlformats.org/drawingml/2006/main">
              <a:ext uri="{FF2B5EF4-FFF2-40B4-BE49-F238E27FC236}">
                <a16:creationId xmlns:a16="http://schemas.microsoft.com/office/drawing/2014/main" id="{A99B47AD-2D16-408C-A6B5-E8EB1E3941FC}"/>
              </a:ext>
            </a:extLst>
          </p:cNvPr>
          <p:cNvSpPr>
            <a:spLocks xmlns:a="http://schemas.openxmlformats.org/drawingml/2006/main" noGrp="1"/>
          </p:cNvSpPr>
          <p:nvPr/>
        </p:nvSpPr>
        <p:spPr>
          <a:xfrm xmlns:a="http://schemas.openxmlformats.org/drawingml/2006/main">
            <a:off x="400050" y="13335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Chúng tôi đề xuất một cách đọc có điều kiện và có giới hạn:</a:t>
            </a:r>
          </a:p>
        </p:txBody>
      </p:sp>
      <p:sp>
        <p:nvSpPr>
          <p:cNvPr id="7" name="">
            <a:extLst xmlns:a="http://schemas.openxmlformats.org/drawingml/2006/main">
              <a:ext uri="{FF2B5EF4-FFF2-40B4-BE49-F238E27FC236}">
                <a16:creationId xmlns:a16="http://schemas.microsoft.com/office/drawing/2014/main" id="{1B79E6BF-E41C-42B8-AE54-0B26A7C45806}"/>
              </a:ext>
            </a:extLst>
          </p:cNvPr>
          <p:cNvSpPr>
            <a:spLocks xmlns:a="http://schemas.openxmlformats.org/drawingml/2006/main" noGrp="1"/>
          </p:cNvSpPr>
          <p:nvPr/>
        </p:nvSpPr>
        <p:spPr>
          <a:xfrm xmlns:a="http://schemas.openxmlformats.org/drawingml/2006/main">
            <a:off x="400050" y="1981200"/>
            <a:ext cx="11391900" cy="1085850"/>
          </a:xfrm>
          <a:prstGeom xmlns:a="http://schemas.openxmlformats.org/drawingml/2006/main" prst="roundRect">
            <a:avLst>
              <a:gd name="adj" fmla="val 14035"/>
            </a:avLst>
          </a:prstGeom>
          <a:solidFill xmlns:a="http://schemas.openxmlformats.org/drawingml/2006/main">
            <a:srgbClr val="16213A"/>
          </a:solidFill>
          <a:ln xmlns:a="http://schemas.openxmlformats.org/drawingml/2006/main" w="0">
            <a:solidFill>
              <a:srgbClr val="16213A"/>
            </a:solidFill>
            <a:prstDash val="solid"/>
          </a:ln>
        </p:spPr>
      </p:sp>
      <p:sp>
        <p:nvSpPr>
          <p:cNvPr id="8" name="">
            <a:extLst xmlns:a="http://schemas.openxmlformats.org/drawingml/2006/main">
              <a:ext uri="{FF2B5EF4-FFF2-40B4-BE49-F238E27FC236}">
                <a16:creationId xmlns:a16="http://schemas.microsoft.com/office/drawing/2014/main" id="{42248640-A4D2-436F-A5A9-9E89881FE328}"/>
              </a:ext>
            </a:extLst>
          </p:cNvPr>
          <p:cNvSpPr>
            <a:spLocks xmlns:a="http://schemas.openxmlformats.org/drawingml/2006/main" noGrp="1"/>
          </p:cNvSpPr>
          <p:nvPr/>
        </p:nvSpPr>
        <p:spPr>
          <a:xfrm xmlns:a="http://schemas.openxmlformats.org/drawingml/2006/main">
            <a:off x="723900" y="2266950"/>
            <a:ext cx="1074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986"/>
          </a:bodyPr>
          <a:lstStyle xmlns:a="http://schemas.openxmlformats.org/drawingml/2006/main"/>
          <a:p xmlns:a="http://schemas.openxmlformats.org/drawingml/2006/main">
            <a:pPr algn="ctr">
              <a:lnSpc>
                <a:spcPct val="108000"/>
              </a:lnSpc>
              <a:buNone/>
              <a:defRPr sz="1875" b="1" i="0">
                <a:solidFill>
                  <a:srgbClr val="FFFFFF"/>
                </a:solidFill>
                <a:latin typeface="Lora"/>
                <a:ea typeface="Lora"/>
                <a:cs typeface="Lora"/>
              </a:defRPr>
            </a:pPr>
            <a:r>
              <a:rPr sz="1875" b="1" i="0">
                <a:solidFill>
                  <a:srgbClr val="FFFFFF"/>
                </a:solidFill>
                <a:latin typeface="Lora"/>
                <a:ea typeface="Lora"/>
                <a:cs typeface="Lora"/>
              </a:rPr>
              <a:t>Độc lập dân tộc có ý nghĩa đầy đủ khi được đặt trong mối liên hệ với tự do, hạnh phúc và đời sống nhân dân.</a:t>
            </a:r>
          </a:p>
        </p:txBody>
      </p:sp>
      <p:sp>
        <p:nvSpPr>
          <p:cNvPr id="9" name="">
            <a:extLst xmlns:a="http://schemas.openxmlformats.org/drawingml/2006/main">
              <a:ext uri="{FF2B5EF4-FFF2-40B4-BE49-F238E27FC236}">
                <a16:creationId xmlns:a16="http://schemas.microsoft.com/office/drawing/2014/main" id="{EAA68F57-0F22-4BA1-AF13-F51E2236EEDE}"/>
              </a:ext>
            </a:extLst>
          </p:cNvPr>
          <p:cNvSpPr>
            <a:spLocks xmlns:a="http://schemas.openxmlformats.org/drawingml/2006/main" noGrp="1"/>
          </p:cNvSpPr>
          <p:nvPr/>
        </p:nvSpPr>
        <p:spPr>
          <a:xfrm xmlns:a="http://schemas.openxmlformats.org/drawingml/2006/main">
            <a:off x="400050" y="3638550"/>
            <a:ext cx="3486150" cy="1809750"/>
          </a:xfrm>
          <a:prstGeom xmlns:a="http://schemas.openxmlformats.org/drawingml/2006/main" prst="roundRect">
            <a:avLst>
              <a:gd name="adj" fmla="val 7368"/>
            </a:avLst>
          </a:prstGeom>
          <a:solidFill xmlns:a="http://schemas.openxmlformats.org/drawingml/2006/main">
            <a:srgbClr val="F4F7FC"/>
          </a:solidFill>
          <a:ln xmlns:a="http://schemas.openxmlformats.org/drawingml/2006/main" w="9525">
            <a:solidFill>
              <a:srgbClr val="C8D0DD"/>
            </a:solidFill>
            <a:prstDash val="solid"/>
          </a:ln>
        </p:spPr>
      </p:sp>
      <p:sp>
        <p:nvSpPr>
          <p:cNvPr id="10" name="">
            <a:extLst xmlns:a="http://schemas.openxmlformats.org/drawingml/2006/main">
              <a:ext uri="{FF2B5EF4-FFF2-40B4-BE49-F238E27FC236}">
                <a16:creationId xmlns:a16="http://schemas.microsoft.com/office/drawing/2014/main" id="{D5B80250-30B6-43DB-9D23-DB4388BF148B}"/>
              </a:ext>
            </a:extLst>
          </p:cNvPr>
          <p:cNvSpPr>
            <a:spLocks xmlns:a="http://schemas.openxmlformats.org/drawingml/2006/main" noGrp="1"/>
          </p:cNvSpPr>
          <p:nvPr/>
        </p:nvSpPr>
        <p:spPr>
          <a:xfrm xmlns:a="http://schemas.openxmlformats.org/drawingml/2006/main">
            <a:off x="552450" y="381000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11" name="">
            <a:extLst xmlns:a="http://schemas.openxmlformats.org/drawingml/2006/main">
              <a:ext uri="{FF2B5EF4-FFF2-40B4-BE49-F238E27FC236}">
                <a16:creationId xmlns:a16="http://schemas.microsoft.com/office/drawing/2014/main" id="{9F43C6EF-1ED8-41C0-B985-037387C797E1}"/>
              </a:ext>
            </a:extLst>
          </p:cNvPr>
          <p:cNvSpPr>
            <a:spLocks xmlns:a="http://schemas.openxmlformats.org/drawingml/2006/main" noGrp="1"/>
          </p:cNvSpPr>
          <p:nvPr/>
        </p:nvSpPr>
        <p:spPr>
          <a:xfrm xmlns:a="http://schemas.openxmlformats.org/drawingml/2006/main">
            <a:off x="742950" y="3810000"/>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CHÚNG TÔI KHẲNG ĐỊNH</a:t>
            </a:r>
          </a:p>
        </p:txBody>
      </p:sp>
      <p:sp>
        <p:nvSpPr>
          <p:cNvPr id="12" name="">
            <a:extLst xmlns:a="http://schemas.openxmlformats.org/drawingml/2006/main">
              <a:ext uri="{FF2B5EF4-FFF2-40B4-BE49-F238E27FC236}">
                <a16:creationId xmlns:a16="http://schemas.microsoft.com/office/drawing/2014/main" id="{BA253433-1F39-4687-9ADA-6145436FD2D4}"/>
              </a:ext>
            </a:extLst>
          </p:cNvPr>
          <p:cNvSpPr>
            <a:spLocks xmlns:a="http://schemas.openxmlformats.org/drawingml/2006/main" noGrp="1"/>
          </p:cNvSpPr>
          <p:nvPr/>
        </p:nvSpPr>
        <p:spPr>
          <a:xfrm xmlns:a="http://schemas.openxmlformats.org/drawingml/2006/main">
            <a:off x="742950" y="403860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Có quan hệ nội dung</a:t>
            </a:r>
          </a:p>
        </p:txBody>
      </p:sp>
      <p:sp>
        <p:nvSpPr>
          <p:cNvPr id="13" name="">
            <a:extLst xmlns:a="http://schemas.openxmlformats.org/drawingml/2006/main">
              <a:ext uri="{FF2B5EF4-FFF2-40B4-BE49-F238E27FC236}">
                <a16:creationId xmlns:a16="http://schemas.microsoft.com/office/drawing/2014/main" id="{6D6416FA-2510-4581-B192-CE8C3FD55AF3}"/>
              </a:ext>
            </a:extLst>
          </p:cNvPr>
          <p:cNvSpPr>
            <a:spLocks xmlns:a="http://schemas.openxmlformats.org/drawingml/2006/main" noGrp="1"/>
          </p:cNvSpPr>
          <p:nvPr/>
        </p:nvSpPr>
        <p:spPr>
          <a:xfrm xmlns:a="http://schemas.openxmlformats.org/drawingml/2006/main">
            <a:off x="742950" y="4438650"/>
            <a:ext cx="2990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Ba giá trị không tách rời khi đọc ý nghĩa của độc lập.</a:t>
            </a:r>
          </a:p>
        </p:txBody>
      </p:sp>
      <p:sp>
        <p:nvSpPr>
          <p:cNvPr id="14" name="">
            <a:extLst xmlns:a="http://schemas.openxmlformats.org/drawingml/2006/main">
              <a:ext uri="{FF2B5EF4-FFF2-40B4-BE49-F238E27FC236}">
                <a16:creationId xmlns:a16="http://schemas.microsoft.com/office/drawing/2014/main" id="{1FD7E9AB-A219-40C4-8CF3-CD422352D910}"/>
              </a:ext>
            </a:extLst>
          </p:cNvPr>
          <p:cNvSpPr>
            <a:spLocks xmlns:a="http://schemas.openxmlformats.org/drawingml/2006/main" noGrp="1"/>
          </p:cNvSpPr>
          <p:nvPr/>
        </p:nvSpPr>
        <p:spPr>
          <a:xfrm xmlns:a="http://schemas.openxmlformats.org/drawingml/2006/main">
            <a:off x="4352925" y="3638550"/>
            <a:ext cx="3486150" cy="1809750"/>
          </a:xfrm>
          <a:prstGeom xmlns:a="http://schemas.openxmlformats.org/drawingml/2006/main" prst="roundRect">
            <a:avLst>
              <a:gd name="adj" fmla="val 7368"/>
            </a:avLst>
          </a:prstGeom>
          <a:solidFill xmlns:a="http://schemas.openxmlformats.org/drawingml/2006/main">
            <a:srgbClr val="FBF4E4"/>
          </a:solidFill>
          <a:ln xmlns:a="http://schemas.openxmlformats.org/drawingml/2006/main" w="9525">
            <a:solidFill>
              <a:srgbClr val="C8D0DD"/>
            </a:solidFill>
            <a:prstDash val="solid"/>
          </a:ln>
        </p:spPr>
      </p:sp>
      <p:sp>
        <p:nvSpPr>
          <p:cNvPr id="15" name="">
            <a:extLst xmlns:a="http://schemas.openxmlformats.org/drawingml/2006/main">
              <a:ext uri="{FF2B5EF4-FFF2-40B4-BE49-F238E27FC236}">
                <a16:creationId xmlns:a16="http://schemas.microsoft.com/office/drawing/2014/main" id="{F5F4F05A-15FF-42E3-B50C-5E1C3AE42319}"/>
              </a:ext>
            </a:extLst>
          </p:cNvPr>
          <p:cNvSpPr>
            <a:spLocks xmlns:a="http://schemas.openxmlformats.org/drawingml/2006/main" noGrp="1"/>
          </p:cNvSpPr>
          <p:nvPr/>
        </p:nvSpPr>
        <p:spPr>
          <a:xfrm xmlns:a="http://schemas.openxmlformats.org/drawingml/2006/main">
            <a:off x="4505325" y="381000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6" name="">
            <a:extLst xmlns:a="http://schemas.openxmlformats.org/drawingml/2006/main">
              <a:ext uri="{FF2B5EF4-FFF2-40B4-BE49-F238E27FC236}">
                <a16:creationId xmlns:a16="http://schemas.microsoft.com/office/drawing/2014/main" id="{20D247B9-306A-4331-8F3B-094AF5FF625F}"/>
              </a:ext>
            </a:extLst>
          </p:cNvPr>
          <p:cNvSpPr>
            <a:spLocks xmlns:a="http://schemas.openxmlformats.org/drawingml/2006/main" noGrp="1"/>
          </p:cNvSpPr>
          <p:nvPr/>
        </p:nvSpPr>
        <p:spPr>
          <a:xfrm xmlns:a="http://schemas.openxmlformats.org/drawingml/2006/main">
            <a:off x="4695825" y="3810000"/>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CHÚNG TÔI KHÔNG KHẲNG ĐỊNH</a:t>
            </a:r>
          </a:p>
        </p:txBody>
      </p:sp>
      <p:sp>
        <p:nvSpPr>
          <p:cNvPr id="17" name="">
            <a:extLst xmlns:a="http://schemas.openxmlformats.org/drawingml/2006/main">
              <a:ext uri="{FF2B5EF4-FFF2-40B4-BE49-F238E27FC236}">
                <a16:creationId xmlns:a16="http://schemas.microsoft.com/office/drawing/2014/main" id="{ED066DC2-D22F-4422-8C64-9EBF7E48BC99}"/>
              </a:ext>
            </a:extLst>
          </p:cNvPr>
          <p:cNvSpPr>
            <a:spLocks xmlns:a="http://schemas.openxmlformats.org/drawingml/2006/main" noGrp="1"/>
          </p:cNvSpPr>
          <p:nvPr/>
        </p:nvSpPr>
        <p:spPr>
          <a:xfrm xmlns:a="http://schemas.openxmlformats.org/drawingml/2006/main">
            <a:off x="4695825" y="403860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Không có nhân quả tự động</a:t>
            </a:r>
          </a:p>
        </p:txBody>
      </p:sp>
      <p:sp>
        <p:nvSpPr>
          <p:cNvPr id="18" name="">
            <a:extLst xmlns:a="http://schemas.openxmlformats.org/drawingml/2006/main">
              <a:ext uri="{FF2B5EF4-FFF2-40B4-BE49-F238E27FC236}">
                <a16:creationId xmlns:a16="http://schemas.microsoft.com/office/drawing/2014/main" id="{1848FBE1-FD9C-4167-BF00-1AA501028B9F}"/>
              </a:ext>
            </a:extLst>
          </p:cNvPr>
          <p:cNvSpPr>
            <a:spLocks xmlns:a="http://schemas.openxmlformats.org/drawingml/2006/main" noGrp="1"/>
          </p:cNvSpPr>
          <p:nvPr/>
        </p:nvSpPr>
        <p:spPr>
          <a:xfrm xmlns:a="http://schemas.openxmlformats.org/drawingml/2006/main">
            <a:off x="4695825" y="4438650"/>
            <a:ext cx="2990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Độc lập không tự động tạo ra mọi kết quả; hạnh phúc không chỉ có một chỉ số.</a:t>
            </a:r>
          </a:p>
        </p:txBody>
      </p:sp>
      <p:sp>
        <p:nvSpPr>
          <p:cNvPr id="19" name="">
            <a:extLst xmlns:a="http://schemas.openxmlformats.org/drawingml/2006/main">
              <a:ext uri="{FF2B5EF4-FFF2-40B4-BE49-F238E27FC236}">
                <a16:creationId xmlns:a16="http://schemas.microsoft.com/office/drawing/2014/main" id="{A4041983-E05F-4B79-9E31-90B5A07F2536}"/>
              </a:ext>
            </a:extLst>
          </p:cNvPr>
          <p:cNvSpPr>
            <a:spLocks xmlns:a="http://schemas.openxmlformats.org/drawingml/2006/main" noGrp="1"/>
          </p:cNvSpPr>
          <p:nvPr/>
        </p:nvSpPr>
        <p:spPr>
          <a:xfrm xmlns:a="http://schemas.openxmlformats.org/drawingml/2006/main">
            <a:off x="8305800" y="3638550"/>
            <a:ext cx="3486150" cy="1809750"/>
          </a:xfrm>
          <a:prstGeom xmlns:a="http://schemas.openxmlformats.org/drawingml/2006/main" prst="roundRect">
            <a:avLst>
              <a:gd name="adj" fmla="val 7368"/>
            </a:avLst>
          </a:prstGeom>
          <a:solidFill xmlns:a="http://schemas.openxmlformats.org/drawingml/2006/main">
            <a:srgbClr val="F8ECEB"/>
          </a:solidFill>
          <a:ln xmlns:a="http://schemas.openxmlformats.org/drawingml/2006/main" w="9525">
            <a:solidFill>
              <a:srgbClr val="C8D0DD"/>
            </a:solidFill>
            <a:prstDash val="solid"/>
          </a:ln>
        </p:spPr>
      </p:sp>
      <p:sp>
        <p:nvSpPr>
          <p:cNvPr id="20" name="">
            <a:extLst xmlns:a="http://schemas.openxmlformats.org/drawingml/2006/main">
              <a:ext uri="{FF2B5EF4-FFF2-40B4-BE49-F238E27FC236}">
                <a16:creationId xmlns:a16="http://schemas.microsoft.com/office/drawing/2014/main" id="{D6A8E5BD-97D8-4516-8E6F-126F8CC3F832}"/>
              </a:ext>
            </a:extLst>
          </p:cNvPr>
          <p:cNvSpPr>
            <a:spLocks xmlns:a="http://schemas.openxmlformats.org/drawingml/2006/main" noGrp="1"/>
          </p:cNvSpPr>
          <p:nvPr/>
        </p:nvSpPr>
        <p:spPr>
          <a:xfrm xmlns:a="http://schemas.openxmlformats.org/drawingml/2006/main">
            <a:off x="8458200" y="381000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21" name="">
            <a:extLst xmlns:a="http://schemas.openxmlformats.org/drawingml/2006/main">
              <a:ext uri="{FF2B5EF4-FFF2-40B4-BE49-F238E27FC236}">
                <a16:creationId xmlns:a16="http://schemas.microsoft.com/office/drawing/2014/main" id="{CE26B110-A8C4-41AA-9C86-39479C3953EF}"/>
              </a:ext>
            </a:extLst>
          </p:cNvPr>
          <p:cNvSpPr>
            <a:spLocks xmlns:a="http://schemas.openxmlformats.org/drawingml/2006/main" noGrp="1"/>
          </p:cNvSpPr>
          <p:nvPr/>
        </p:nvSpPr>
        <p:spPr>
          <a:xfrm xmlns:a="http://schemas.openxmlformats.org/drawingml/2006/main">
            <a:off x="8648700" y="3810000"/>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CÁCH KIỂM TRA</a:t>
            </a:r>
          </a:p>
        </p:txBody>
      </p:sp>
      <p:sp>
        <p:nvSpPr>
          <p:cNvPr id="22" name="">
            <a:extLst xmlns:a="http://schemas.openxmlformats.org/drawingml/2006/main">
              <a:ext uri="{FF2B5EF4-FFF2-40B4-BE49-F238E27FC236}">
                <a16:creationId xmlns:a16="http://schemas.microsoft.com/office/drawing/2014/main" id="{00D92A11-559A-460C-98AF-AA4729E0C501}"/>
              </a:ext>
            </a:extLst>
          </p:cNvPr>
          <p:cNvSpPr>
            <a:spLocks xmlns:a="http://schemas.openxmlformats.org/drawingml/2006/main" noGrp="1"/>
          </p:cNvSpPr>
          <p:nvPr/>
        </p:nvSpPr>
        <p:spPr>
          <a:xfrm xmlns:a="http://schemas.openxmlformats.org/drawingml/2006/main">
            <a:off x="8648700" y="403860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Quay về nguồn</a:t>
            </a:r>
          </a:p>
        </p:txBody>
      </p:sp>
      <p:sp>
        <p:nvSpPr>
          <p:cNvPr id="23" name="">
            <a:extLst xmlns:a="http://schemas.openxmlformats.org/drawingml/2006/main">
              <a:ext uri="{FF2B5EF4-FFF2-40B4-BE49-F238E27FC236}">
                <a16:creationId xmlns:a16="http://schemas.microsoft.com/office/drawing/2014/main" id="{329FD931-A067-4C86-A745-745F3680BE64}"/>
              </a:ext>
            </a:extLst>
          </p:cNvPr>
          <p:cNvSpPr>
            <a:spLocks xmlns:a="http://schemas.openxmlformats.org/drawingml/2006/main" noGrp="1"/>
          </p:cNvSpPr>
          <p:nvPr/>
        </p:nvSpPr>
        <p:spPr>
          <a:xfrm xmlns:a="http://schemas.openxmlformats.org/drawingml/2006/main">
            <a:off x="8648700" y="4438650"/>
            <a:ext cx="2990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Mỗi đường nối phải giải thích được bằng Giáo trình 2019 hoặc Tập 4.</a:t>
            </a:r>
          </a:p>
        </p:txBody>
      </p:sp>
      <p:sp>
        <p:nvSpPr>
          <p:cNvPr id="24" name="">
            <a:extLst xmlns:a="http://schemas.openxmlformats.org/drawingml/2006/main">
              <a:ext uri="{FF2B5EF4-FFF2-40B4-BE49-F238E27FC236}">
                <a16:creationId xmlns:a16="http://schemas.microsoft.com/office/drawing/2014/main" id="{A43018C1-71CD-4818-9B94-92A20CB03E53}"/>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Cách phân tích của nhóm, gợi ra từ Giáo trình TTHCM 2019, tr.43 và Hồ Chí Minh Toàn tập, T4, tr.64.</a:t>
            </a:r>
          </a:p>
        </p:txBody>
      </p:sp>
    </p:spTree>
    <p:extLst>
      <p:ext uri="{BB962C8B-B14F-4D97-AF65-F5344CB8AC3E}">
        <p14:creationId xmlns:p14="http://schemas.microsoft.com/office/powerpoint/2010/main" val="81641753"/>
      </p:ext>
    </p:extLst>
  </p:cSld>
</p:sld>
</file>

<file path=ppt/slides/slide4.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D2CACA7-4F00-4A23-B6A3-A944D1CD940E}"/>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FA8ABB83-74C4-4445-8072-E5C9B60D62A4}"/>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DEFENSE 3C</a:t>
            </a:r>
          </a:p>
        </p:txBody>
      </p:sp>
      <p:sp>
        <p:nvSpPr>
          <p:cNvPr id="3" name="">
            <a:extLst xmlns:a="http://schemas.openxmlformats.org/drawingml/2006/main">
              <a:ext uri="{FF2B5EF4-FFF2-40B4-BE49-F238E27FC236}">
                <a16:creationId xmlns:a16="http://schemas.microsoft.com/office/drawing/2014/main" id="{213551A0-4968-4D36-B0B9-08CC85A367E3}"/>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04</a:t>
            </a:r>
          </a:p>
        </p:txBody>
      </p:sp>
      <p:sp>
        <p:nvSpPr>
          <p:cNvPr id="4" name="">
            <a:extLst xmlns:a="http://schemas.openxmlformats.org/drawingml/2006/main">
              <a:ext uri="{FF2B5EF4-FFF2-40B4-BE49-F238E27FC236}">
                <a16:creationId xmlns:a16="http://schemas.microsoft.com/office/drawing/2014/main" id="{8EDC9E70-3B09-484D-BD39-7614F8D8782C}"/>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1.1 • LÝ LUẬN &amp; PHÂN TÍCH</a:t>
            </a:r>
          </a:p>
        </p:txBody>
      </p:sp>
      <p:sp>
        <p:nvSpPr>
          <p:cNvPr id="5" name="">
            <a:extLst xmlns:a="http://schemas.openxmlformats.org/drawingml/2006/main">
              <a:ext uri="{FF2B5EF4-FFF2-40B4-BE49-F238E27FC236}">
                <a16:creationId xmlns:a16="http://schemas.microsoft.com/office/drawing/2014/main" id="{C1F4917E-37C4-4942-B498-7AEC1CCFEB54}"/>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Context: câu hỏi bắt đầu từ một bối cảnh lịch sử cụ thể</a:t>
            </a:r>
          </a:p>
        </p:txBody>
      </p:sp>
      <p:sp>
        <p:nvSpPr>
          <p:cNvPr id="6" name="">
            <a:extLst xmlns:a="http://schemas.openxmlformats.org/drawingml/2006/main">
              <a:ext uri="{FF2B5EF4-FFF2-40B4-BE49-F238E27FC236}">
                <a16:creationId xmlns:a16="http://schemas.microsoft.com/office/drawing/2014/main" id="{785A9A69-EEAC-42ED-AD27-B561DCF8FD5E}"/>
              </a:ext>
            </a:extLst>
          </p:cNvPr>
          <p:cNvSpPr>
            <a:spLocks xmlns:a="http://schemas.openxmlformats.org/drawingml/2006/main" noGrp="1"/>
          </p:cNvSpPr>
          <p:nvPr/>
        </p:nvSpPr>
        <p:spPr>
          <a:xfrm xmlns:a="http://schemas.openxmlformats.org/drawingml/2006/main">
            <a:off x="400050" y="1257300"/>
            <a:ext cx="895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Bối cảnh không phải “chuyện kể thêm”; nó giúp xác định vấn đề mà lý luận đang trả lời.</a:t>
            </a:r>
          </a:p>
        </p:txBody>
      </p:sp>
      <p:sp>
        <p:nvSpPr>
          <p:cNvPr id="7" name="">
            <a:extLst xmlns:a="http://schemas.openxmlformats.org/drawingml/2006/main">
              <a:ext uri="{FF2B5EF4-FFF2-40B4-BE49-F238E27FC236}">
                <a16:creationId xmlns:a16="http://schemas.microsoft.com/office/drawing/2014/main" id="{20777B2C-CB3C-491F-8549-2C5F784DBB11}"/>
              </a:ext>
            </a:extLst>
          </p:cNvPr>
          <p:cNvSpPr>
            <a:spLocks xmlns:a="http://schemas.openxmlformats.org/drawingml/2006/main" noGrp="1"/>
          </p:cNvSpPr>
          <p:nvPr/>
        </p:nvSpPr>
        <p:spPr>
          <a:xfrm xmlns:a="http://schemas.openxmlformats.org/drawingml/2006/main">
            <a:off x="400050" y="2057400"/>
            <a:ext cx="3524250" cy="2857500"/>
          </a:xfrm>
          <a:prstGeom xmlns:a="http://schemas.openxmlformats.org/drawingml/2006/main" prst="roundRect">
            <a:avLst>
              <a:gd name="adj" fmla="val 4667"/>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1B6BD7DB-2501-4416-8E6A-B94BD0C8FEC7}"/>
              </a:ext>
            </a:extLst>
          </p:cNvPr>
          <p:cNvSpPr>
            <a:spLocks xmlns:a="http://schemas.openxmlformats.org/drawingml/2006/main" noGrp="1"/>
          </p:cNvSpPr>
          <p:nvPr/>
        </p:nvSpPr>
        <p:spPr>
          <a:xfrm xmlns:a="http://schemas.openxmlformats.org/drawingml/2006/main">
            <a:off x="552450" y="22288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0498D8A7-04E9-4E1D-BCBF-4300CAEE11DD}"/>
              </a:ext>
            </a:extLst>
          </p:cNvPr>
          <p:cNvSpPr>
            <a:spLocks xmlns:a="http://schemas.openxmlformats.org/drawingml/2006/main" noGrp="1"/>
          </p:cNvSpPr>
          <p:nvPr/>
        </p:nvSpPr>
        <p:spPr>
          <a:xfrm xmlns:a="http://schemas.openxmlformats.org/drawingml/2006/main">
            <a:off x="742950" y="22288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1945</a:t>
            </a:r>
          </a:p>
        </p:txBody>
      </p:sp>
      <p:sp>
        <p:nvSpPr>
          <p:cNvPr id="10" name="">
            <a:extLst xmlns:a="http://schemas.openxmlformats.org/drawingml/2006/main">
              <a:ext uri="{FF2B5EF4-FFF2-40B4-BE49-F238E27FC236}">
                <a16:creationId xmlns:a16="http://schemas.microsoft.com/office/drawing/2014/main" id="{7B696074-197D-4E91-BBB9-F7A74EC66A4C}"/>
              </a:ext>
            </a:extLst>
          </p:cNvPr>
          <p:cNvSpPr>
            <a:spLocks xmlns:a="http://schemas.openxmlformats.org/drawingml/2006/main" noGrp="1"/>
          </p:cNvSpPr>
          <p:nvPr/>
        </p:nvSpPr>
        <p:spPr>
          <a:xfrm xmlns:a="http://schemas.openxmlformats.org/drawingml/2006/main">
            <a:off x="742950" y="24574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Độc lập phải có ý nghĩa</a:t>
            </a:r>
          </a:p>
        </p:txBody>
      </p:sp>
      <p:sp>
        <p:nvSpPr>
          <p:cNvPr id="11" name="">
            <a:extLst xmlns:a="http://schemas.openxmlformats.org/drawingml/2006/main">
              <a:ext uri="{FF2B5EF4-FFF2-40B4-BE49-F238E27FC236}">
                <a16:creationId xmlns:a16="http://schemas.microsoft.com/office/drawing/2014/main" id="{345F06E1-B5D0-415B-8863-49ED6A1F7C0A}"/>
              </a:ext>
            </a:extLst>
          </p:cNvPr>
          <p:cNvSpPr>
            <a:spLocks xmlns:a="http://schemas.openxmlformats.org/drawingml/2006/main" noGrp="1"/>
          </p:cNvSpPr>
          <p:nvPr/>
        </p:nvSpPr>
        <p:spPr>
          <a:xfrm xmlns:a="http://schemas.openxmlformats.org/drawingml/2006/main">
            <a:off x="742950" y="28575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16213A"/>
                </a:solidFill>
                <a:latin typeface="Roboto"/>
                <a:ea typeface="Roboto"/>
                <a:cs typeface="Roboto"/>
              </a:defRPr>
            </a:pPr>
            <a:r>
              <a:rPr sz="1163" b="0" i="0">
                <a:solidFill>
                  <a:srgbClr val="16213A"/>
                </a:solidFill>
                <a:latin typeface="Roboto"/>
                <a:ea typeface="Roboto"/>
                <a:cs typeface="Roboto"/>
              </a:rPr>
              <a:t>Trong thư ngày 17-10-1945, vấn đề được đặt ra ở cấp độ ý nghĩa: nếu người dân không hưởng hạnh phúc, tự do thì độc lập còn có nghĩa lý gì?</a:t>
            </a:r>
          </a:p>
        </p:txBody>
      </p:sp>
      <p:sp>
        <p:nvSpPr>
          <p:cNvPr id="12" name="">
            <a:extLst xmlns:a="http://schemas.openxmlformats.org/drawingml/2006/main">
              <a:ext uri="{FF2B5EF4-FFF2-40B4-BE49-F238E27FC236}">
                <a16:creationId xmlns:a16="http://schemas.microsoft.com/office/drawing/2014/main" id="{A6B5D58D-B024-4002-A0FF-12EF06A0F9B4}"/>
              </a:ext>
            </a:extLst>
          </p:cNvPr>
          <p:cNvSpPr>
            <a:spLocks xmlns:a="http://schemas.openxmlformats.org/drawingml/2006/main" noGrp="1"/>
          </p:cNvSpPr>
          <p:nvPr/>
        </p:nvSpPr>
        <p:spPr>
          <a:xfrm xmlns:a="http://schemas.openxmlformats.org/drawingml/2006/main">
            <a:off x="4333875" y="2057400"/>
            <a:ext cx="3524250" cy="2857500"/>
          </a:xfrm>
          <a:prstGeom xmlns:a="http://schemas.openxmlformats.org/drawingml/2006/main" prst="roundRect">
            <a:avLst>
              <a:gd name="adj" fmla="val 4667"/>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59370E0C-68CC-4B02-8FED-70852877B65D}"/>
              </a:ext>
            </a:extLst>
          </p:cNvPr>
          <p:cNvSpPr>
            <a:spLocks xmlns:a="http://schemas.openxmlformats.org/drawingml/2006/main" noGrp="1"/>
          </p:cNvSpPr>
          <p:nvPr/>
        </p:nvSpPr>
        <p:spPr>
          <a:xfrm xmlns:a="http://schemas.openxmlformats.org/drawingml/2006/main">
            <a:off x="4486275" y="22288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4DA9D3FE-8BBD-441E-A883-9D993918EE52}"/>
              </a:ext>
            </a:extLst>
          </p:cNvPr>
          <p:cNvSpPr>
            <a:spLocks xmlns:a="http://schemas.openxmlformats.org/drawingml/2006/main" noGrp="1"/>
          </p:cNvSpPr>
          <p:nvPr/>
        </p:nvSpPr>
        <p:spPr>
          <a:xfrm xmlns:a="http://schemas.openxmlformats.org/drawingml/2006/main">
            <a:off x="4676775" y="22288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1946</a:t>
            </a:r>
          </a:p>
        </p:txBody>
      </p:sp>
      <p:sp>
        <p:nvSpPr>
          <p:cNvPr id="15" name="">
            <a:extLst xmlns:a="http://schemas.openxmlformats.org/drawingml/2006/main">
              <a:ext uri="{FF2B5EF4-FFF2-40B4-BE49-F238E27FC236}">
                <a16:creationId xmlns:a16="http://schemas.microsoft.com/office/drawing/2014/main" id="{63E94B5E-1C1D-4F63-9537-2C92EC209FF6}"/>
              </a:ext>
            </a:extLst>
          </p:cNvPr>
          <p:cNvSpPr>
            <a:spLocks xmlns:a="http://schemas.openxmlformats.org/drawingml/2006/main" noGrp="1"/>
          </p:cNvSpPr>
          <p:nvPr/>
        </p:nvSpPr>
        <p:spPr>
          <a:xfrm xmlns:a="http://schemas.openxmlformats.org/drawingml/2006/main">
            <a:off x="4676775" y="24574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Ý nghĩa đi vào đời sống</a:t>
            </a:r>
          </a:p>
        </p:txBody>
      </p:sp>
      <p:sp>
        <p:nvSpPr>
          <p:cNvPr id="16" name="">
            <a:extLst xmlns:a="http://schemas.openxmlformats.org/drawingml/2006/main">
              <a:ext uri="{FF2B5EF4-FFF2-40B4-BE49-F238E27FC236}">
                <a16:creationId xmlns:a16="http://schemas.microsoft.com/office/drawing/2014/main" id="{B25EA48D-B5F1-4CEA-9091-18CB2C7BF2AA}"/>
              </a:ext>
            </a:extLst>
          </p:cNvPr>
          <p:cNvSpPr>
            <a:spLocks xmlns:a="http://schemas.openxmlformats.org/drawingml/2006/main" noGrp="1"/>
          </p:cNvSpPr>
          <p:nvPr/>
        </p:nvSpPr>
        <p:spPr>
          <a:xfrm xmlns:a="http://schemas.openxmlformats.org/drawingml/2006/main">
            <a:off x="4676775" y="28575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16213A"/>
                </a:solidFill>
                <a:latin typeface="Roboto"/>
                <a:ea typeface="Roboto"/>
                <a:cs typeface="Roboto"/>
              </a:defRPr>
            </a:pPr>
            <a:r>
              <a:rPr sz="1163" b="0" i="0">
                <a:solidFill>
                  <a:srgbClr val="16213A"/>
                </a:solidFill>
                <a:latin typeface="Roboto"/>
                <a:ea typeface="Roboto"/>
                <a:cs typeface="Roboto"/>
              </a:rPr>
              <a:t>Trong diễn văn 10-01-1946, mục tiêu được nói bằng những điều kiện rất cụ thể: ăn, mặc, ở và học hành.</a:t>
            </a:r>
          </a:p>
        </p:txBody>
      </p:sp>
      <p:sp>
        <p:nvSpPr>
          <p:cNvPr id="17" name="">
            <a:extLst xmlns:a="http://schemas.openxmlformats.org/drawingml/2006/main">
              <a:ext uri="{FF2B5EF4-FFF2-40B4-BE49-F238E27FC236}">
                <a16:creationId xmlns:a16="http://schemas.microsoft.com/office/drawing/2014/main" id="{DA605254-A9A2-4AEE-BD36-06D972712930}"/>
              </a:ext>
            </a:extLst>
          </p:cNvPr>
          <p:cNvSpPr>
            <a:spLocks xmlns:a="http://schemas.openxmlformats.org/drawingml/2006/main" noGrp="1"/>
          </p:cNvSpPr>
          <p:nvPr/>
        </p:nvSpPr>
        <p:spPr>
          <a:xfrm xmlns:a="http://schemas.openxmlformats.org/drawingml/2006/main">
            <a:off x="8286750" y="2057400"/>
            <a:ext cx="3524250" cy="2857500"/>
          </a:xfrm>
          <a:prstGeom xmlns:a="http://schemas.openxmlformats.org/drawingml/2006/main" prst="roundRect">
            <a:avLst>
              <a:gd name="adj" fmla="val 4667"/>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44E2C4F5-F8CD-4CB5-82C6-877C04B696D6}"/>
              </a:ext>
            </a:extLst>
          </p:cNvPr>
          <p:cNvSpPr>
            <a:spLocks xmlns:a="http://schemas.openxmlformats.org/drawingml/2006/main" noGrp="1"/>
          </p:cNvSpPr>
          <p:nvPr/>
        </p:nvSpPr>
        <p:spPr>
          <a:xfrm xmlns:a="http://schemas.openxmlformats.org/drawingml/2006/main">
            <a:off x="8439150" y="22288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DD043F9C-6310-4076-B6EA-B9289ED8A4EC}"/>
              </a:ext>
            </a:extLst>
          </p:cNvPr>
          <p:cNvSpPr>
            <a:spLocks xmlns:a="http://schemas.openxmlformats.org/drawingml/2006/main" noGrp="1"/>
          </p:cNvSpPr>
          <p:nvPr/>
        </p:nvSpPr>
        <p:spPr>
          <a:xfrm xmlns:a="http://schemas.openxmlformats.org/drawingml/2006/main">
            <a:off x="8629650" y="22288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SCENARIO</a:t>
            </a:r>
          </a:p>
        </p:txBody>
      </p:sp>
      <p:sp>
        <p:nvSpPr>
          <p:cNvPr id="20" name="">
            <a:extLst xmlns:a="http://schemas.openxmlformats.org/drawingml/2006/main">
              <a:ext uri="{FF2B5EF4-FFF2-40B4-BE49-F238E27FC236}">
                <a16:creationId xmlns:a16="http://schemas.microsoft.com/office/drawing/2014/main" id="{8437BE1C-D509-466F-9D81-2D81D3DBB953}"/>
              </a:ext>
            </a:extLst>
          </p:cNvPr>
          <p:cNvSpPr>
            <a:spLocks xmlns:a="http://schemas.openxmlformats.org/drawingml/2006/main" noGrp="1"/>
          </p:cNvSpPr>
          <p:nvPr/>
        </p:nvSpPr>
        <p:spPr>
          <a:xfrm xmlns:a="http://schemas.openxmlformats.org/drawingml/2006/main">
            <a:off x="8629650" y="24574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Tình huống kiểm tra</a:t>
            </a:r>
          </a:p>
        </p:txBody>
      </p:sp>
      <p:sp>
        <p:nvSpPr>
          <p:cNvPr id="21" name="">
            <a:extLst xmlns:a="http://schemas.openxmlformats.org/drawingml/2006/main">
              <a:ext uri="{FF2B5EF4-FFF2-40B4-BE49-F238E27FC236}">
                <a16:creationId xmlns:a16="http://schemas.microsoft.com/office/drawing/2014/main" id="{A8A5FE92-4B9F-46C1-A07E-D1D25C66A1C3}"/>
              </a:ext>
            </a:extLst>
          </p:cNvPr>
          <p:cNvSpPr>
            <a:spLocks xmlns:a="http://schemas.openxmlformats.org/drawingml/2006/main" noGrp="1"/>
          </p:cNvSpPr>
          <p:nvPr/>
        </p:nvSpPr>
        <p:spPr>
          <a:xfrm xmlns:a="http://schemas.openxmlformats.org/drawingml/2006/main">
            <a:off x="8629650" y="28575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16213A"/>
                </a:solidFill>
                <a:latin typeface="Roboto"/>
                <a:ea typeface="Roboto"/>
                <a:cs typeface="Roboto"/>
              </a:defRPr>
            </a:pPr>
            <a:r>
              <a:rPr sz="1163" b="0" i="0">
                <a:solidFill>
                  <a:srgbClr val="16213A"/>
                </a:solidFill>
                <a:latin typeface="Roboto"/>
                <a:ea typeface="Roboto"/>
                <a:cs typeface="Roboto"/>
              </a:rPr>
              <a:t>Giả định: một quốc gia đã độc lập về chính trị nhưng một bộ phận nhân dân chưa được bảo đảm những điều kiện tự do và đời sống cụ thể.</a:t>
            </a:r>
          </a:p>
        </p:txBody>
      </p:sp>
      <p:sp>
        <p:nvSpPr>
          <p:cNvPr id="22" name="">
            <a:extLst xmlns:a="http://schemas.openxmlformats.org/drawingml/2006/main">
              <a:ext uri="{FF2B5EF4-FFF2-40B4-BE49-F238E27FC236}">
                <a16:creationId xmlns:a16="http://schemas.microsoft.com/office/drawing/2014/main" id="{5D5B61CA-7BBB-4111-A429-4E06D5B7FBA1}"/>
              </a:ext>
            </a:extLst>
          </p:cNvPr>
          <p:cNvSpPr>
            <a:spLocks xmlns:a="http://schemas.openxmlformats.org/drawingml/2006/main" noGrp="1"/>
          </p:cNvSpPr>
          <p:nvPr/>
        </p:nvSpPr>
        <p:spPr>
          <a:xfrm xmlns:a="http://schemas.openxmlformats.org/drawingml/2006/main">
            <a:off x="400050" y="53721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Câu hỏi chuyển tiếp → Nếu chỉ xác lập độc lập chính trị, đã đủ để khẳng định ý nghĩa đầy đủ của nền độc lập hay chưa?</a:t>
            </a:r>
          </a:p>
        </p:txBody>
      </p:sp>
      <p:sp>
        <p:nvSpPr>
          <p:cNvPr id="23" name="">
            <a:extLst xmlns:a="http://schemas.openxmlformats.org/drawingml/2006/main">
              <a:ext uri="{FF2B5EF4-FFF2-40B4-BE49-F238E27FC236}">
                <a16:creationId xmlns:a16="http://schemas.microsoft.com/office/drawing/2014/main" id="{B349EA51-A20A-49F7-A305-284AF8A55A88}"/>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lịch sử: Hồ Chí Minh Toàn tập, T4, tr.64 và tr.175.</a:t>
            </a:r>
          </a:p>
        </p:txBody>
      </p:sp>
    </p:spTree>
    <p:extLst>
      <p:ext uri="{BB962C8B-B14F-4D97-AF65-F5344CB8AC3E}">
        <p14:creationId xmlns:p14="http://schemas.microsoft.com/office/powerpoint/2010/main" val="2067528149"/>
      </p:ext>
    </p:extLst>
  </p:cSld>
</p:sld>
</file>

<file path=ppt/slides/slide5.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7E4DEE-B66C-4D72-94DA-B4BA17505D2B}"/>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7B981D1B-3A5F-470F-A4C6-E386F3B02A8E}"/>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SOURCE VERIFICATION</a:t>
            </a:r>
          </a:p>
        </p:txBody>
      </p:sp>
      <p:sp>
        <p:nvSpPr>
          <p:cNvPr id="3" name="">
            <a:extLst xmlns:a="http://schemas.openxmlformats.org/drawingml/2006/main">
              <a:ext uri="{FF2B5EF4-FFF2-40B4-BE49-F238E27FC236}">
                <a16:creationId xmlns:a16="http://schemas.microsoft.com/office/drawing/2014/main" id="{B216C241-640E-4D2E-8A0E-0ED2FB97B98F}"/>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05</a:t>
            </a:r>
          </a:p>
        </p:txBody>
      </p:sp>
      <p:sp>
        <p:nvSpPr>
          <p:cNvPr id="4" name="">
            <a:extLst xmlns:a="http://schemas.openxmlformats.org/drawingml/2006/main">
              <a:ext uri="{FF2B5EF4-FFF2-40B4-BE49-F238E27FC236}">
                <a16:creationId xmlns:a16="http://schemas.microsoft.com/office/drawing/2014/main" id="{A6980D6F-E7C6-4377-AC26-E78AD90C73A5}"/>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1.1 • EVIDENCE VISIBLE</a:t>
            </a:r>
          </a:p>
        </p:txBody>
      </p:sp>
      <p:sp>
        <p:nvSpPr>
          <p:cNvPr id="5" name="">
            <a:extLst xmlns:a="http://schemas.openxmlformats.org/drawingml/2006/main">
              <a:ext uri="{FF2B5EF4-FFF2-40B4-BE49-F238E27FC236}">
                <a16:creationId xmlns:a16="http://schemas.microsoft.com/office/drawing/2014/main" id="{B8D5571C-6347-43A7-B94E-DC593C7B2FED}"/>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Trích dẫn đúng, diễn giải rõ, kết luận có giới hạn</a:t>
            </a:r>
          </a:p>
        </p:txBody>
      </p:sp>
      <p:sp>
        <p:nvSpPr>
          <p:cNvPr id="6" name="">
            <a:extLst xmlns:a="http://schemas.openxmlformats.org/drawingml/2006/main">
              <a:ext uri="{FF2B5EF4-FFF2-40B4-BE49-F238E27FC236}">
                <a16:creationId xmlns:a16="http://schemas.microsoft.com/office/drawing/2014/main" id="{DA44C5E3-6361-4DE0-B4AB-5B6A6EC4E72A}"/>
              </a:ext>
            </a:extLst>
          </p:cNvPr>
          <p:cNvSpPr>
            <a:spLocks xmlns:a="http://schemas.openxmlformats.org/drawingml/2006/main" noGrp="1"/>
          </p:cNvSpPr>
          <p:nvPr/>
        </p:nvSpPr>
        <p:spPr>
          <a:xfrm xmlns:a="http://schemas.openxmlformats.org/drawingml/2006/main">
            <a:off x="400050" y="1257300"/>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Mỗi quote được gắn đúng tác phẩm, tập và trang in; phần diễn giải của nhóm được tách riêng.</a:t>
            </a:r>
          </a:p>
        </p:txBody>
      </p:sp>
      <p:sp>
        <p:nvSpPr>
          <p:cNvPr id="7" name="">
            <a:extLst xmlns:a="http://schemas.openxmlformats.org/drawingml/2006/main">
              <a:ext uri="{FF2B5EF4-FFF2-40B4-BE49-F238E27FC236}">
                <a16:creationId xmlns:a16="http://schemas.microsoft.com/office/drawing/2014/main" id="{5997B8A8-9631-4C13-8818-580A7EFDDA01}"/>
              </a:ext>
            </a:extLst>
          </p:cNvPr>
          <p:cNvSpPr>
            <a:spLocks xmlns:a="http://schemas.openxmlformats.org/drawingml/2006/main" noGrp="1"/>
          </p:cNvSpPr>
          <p:nvPr/>
        </p:nvSpPr>
        <p:spPr>
          <a:xfrm xmlns:a="http://schemas.openxmlformats.org/drawingml/2006/main">
            <a:off x="400050" y="2095500"/>
            <a:ext cx="5391150" cy="2857500"/>
          </a:xfrm>
          <a:prstGeom xmlns:a="http://schemas.openxmlformats.org/drawingml/2006/main" prst="roundRect">
            <a:avLst>
              <a:gd name="adj" fmla="val 4667"/>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7DFC262F-42F0-4586-BD21-706D81E15038}"/>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212298E3-013D-4288-8013-262D6E66218B}"/>
              </a:ext>
            </a:extLst>
          </p:cNvPr>
          <p:cNvSpPr>
            <a:spLocks xmlns:a="http://schemas.openxmlformats.org/drawingml/2006/main" noGrp="1"/>
          </p:cNvSpPr>
          <p:nvPr/>
        </p:nvSpPr>
        <p:spPr>
          <a:xfrm xmlns:a="http://schemas.openxmlformats.org/drawingml/2006/main">
            <a:off x="742950" y="2266950"/>
            <a:ext cx="4895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HỒ CHÍ MINH TOÀN TẬP • T4 • TR.64</a:t>
            </a:r>
          </a:p>
        </p:txBody>
      </p:sp>
      <p:sp>
        <p:nvSpPr>
          <p:cNvPr id="10" name="">
            <a:extLst xmlns:a="http://schemas.openxmlformats.org/drawingml/2006/main">
              <a:ext uri="{FF2B5EF4-FFF2-40B4-BE49-F238E27FC236}">
                <a16:creationId xmlns:a16="http://schemas.microsoft.com/office/drawing/2014/main" id="{B7573461-7E4B-43CE-834B-C47BE18116AB}"/>
              </a:ext>
            </a:extLst>
          </p:cNvPr>
          <p:cNvSpPr>
            <a:spLocks xmlns:a="http://schemas.openxmlformats.org/drawingml/2006/main" noGrp="1"/>
          </p:cNvSpPr>
          <p:nvPr/>
        </p:nvSpPr>
        <p:spPr>
          <a:xfrm xmlns:a="http://schemas.openxmlformats.org/drawingml/2006/main">
            <a:off x="742950" y="2495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“...nếu nước độc lập mà dân không hưởng hạnh phúc tự do...”</a:t>
            </a:r>
          </a:p>
        </p:txBody>
      </p:sp>
      <p:sp>
        <p:nvSpPr>
          <p:cNvPr id="11" name="">
            <a:extLst xmlns:a="http://schemas.openxmlformats.org/drawingml/2006/main">
              <a:ext uri="{FF2B5EF4-FFF2-40B4-BE49-F238E27FC236}">
                <a16:creationId xmlns:a16="http://schemas.microsoft.com/office/drawing/2014/main" id="{F459A39C-0F63-4D40-A529-8923BBE51A96}"/>
              </a:ext>
            </a:extLst>
          </p:cNvPr>
          <p:cNvSpPr>
            <a:spLocks xmlns:a="http://schemas.openxmlformats.org/drawingml/2006/main" noGrp="1"/>
          </p:cNvSpPr>
          <p:nvPr/>
        </p:nvSpPr>
        <p:spPr>
          <a:xfrm xmlns:a="http://schemas.openxmlformats.org/drawingml/2006/main">
            <a:off x="742950" y="2895600"/>
            <a:ext cx="48958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Dùng để chứng minh: độc lập không nên bị đọc như chủ quyền hình thức tách khỏi người dân.</a:t>
            </a:r>
          </a:p>
          <a:p xmlns:a="http://schemas.openxmlformats.org/drawingml/2006/main">
            <a:r>
              <a:t/>
            </a:r>
          </a:p>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Không dùng để suy ra một thước đo định lượng cho hạnh phúc.</a:t>
            </a:r>
          </a:p>
        </p:txBody>
      </p:sp>
      <p:sp>
        <p:nvSpPr>
          <p:cNvPr id="12" name="">
            <a:extLst xmlns:a="http://schemas.openxmlformats.org/drawingml/2006/main">
              <a:ext uri="{FF2B5EF4-FFF2-40B4-BE49-F238E27FC236}">
                <a16:creationId xmlns:a16="http://schemas.microsoft.com/office/drawing/2014/main" id="{C4FBE2EC-9B9B-42F5-A1FC-61AE39CEE645}"/>
              </a:ext>
            </a:extLst>
          </p:cNvPr>
          <p:cNvSpPr>
            <a:spLocks xmlns:a="http://schemas.openxmlformats.org/drawingml/2006/main" noGrp="1"/>
          </p:cNvSpPr>
          <p:nvPr/>
        </p:nvSpPr>
        <p:spPr>
          <a:xfrm xmlns:a="http://schemas.openxmlformats.org/drawingml/2006/main">
            <a:off x="6400800" y="2095500"/>
            <a:ext cx="5391150" cy="2857500"/>
          </a:xfrm>
          <a:prstGeom xmlns:a="http://schemas.openxmlformats.org/drawingml/2006/main" prst="roundRect">
            <a:avLst>
              <a:gd name="adj" fmla="val 4667"/>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C2AD20AD-0B0E-435F-AF7F-407E0C999A98}"/>
              </a:ext>
            </a:extLst>
          </p:cNvPr>
          <p:cNvSpPr>
            <a:spLocks xmlns:a="http://schemas.openxmlformats.org/drawingml/2006/main" noGrp="1"/>
          </p:cNvSpPr>
          <p:nvPr/>
        </p:nvSpPr>
        <p:spPr>
          <a:xfrm xmlns:a="http://schemas.openxmlformats.org/drawingml/2006/main">
            <a:off x="6553200"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873A27AD-9EF8-4D69-879E-A2EB1F58F0C7}"/>
              </a:ext>
            </a:extLst>
          </p:cNvPr>
          <p:cNvSpPr>
            <a:spLocks xmlns:a="http://schemas.openxmlformats.org/drawingml/2006/main" noGrp="1"/>
          </p:cNvSpPr>
          <p:nvPr/>
        </p:nvSpPr>
        <p:spPr>
          <a:xfrm xmlns:a="http://schemas.openxmlformats.org/drawingml/2006/main">
            <a:off x="6743700" y="2266950"/>
            <a:ext cx="4895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HỒ CHÍ MINH TOÀN TẬP • T4 • TR.175</a:t>
            </a:r>
          </a:p>
        </p:txBody>
      </p:sp>
      <p:sp>
        <p:nvSpPr>
          <p:cNvPr id="15" name="">
            <a:extLst xmlns:a="http://schemas.openxmlformats.org/drawingml/2006/main">
              <a:ext uri="{FF2B5EF4-FFF2-40B4-BE49-F238E27FC236}">
                <a16:creationId xmlns:a16="http://schemas.microsoft.com/office/drawing/2014/main" id="{394EA456-96E8-4D94-9142-69C3DBD53B11}"/>
              </a:ext>
            </a:extLst>
          </p:cNvPr>
          <p:cNvSpPr>
            <a:spLocks xmlns:a="http://schemas.openxmlformats.org/drawingml/2006/main" noGrp="1"/>
          </p:cNvSpPr>
          <p:nvPr/>
        </p:nvSpPr>
        <p:spPr>
          <a:xfrm xmlns:a="http://schemas.openxmlformats.org/drawingml/2006/main">
            <a:off x="6743700" y="2495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“Làm cho dân có ăn... có mặc... có chỗ ở... có học hành.”</a:t>
            </a:r>
          </a:p>
        </p:txBody>
      </p:sp>
      <p:sp>
        <p:nvSpPr>
          <p:cNvPr id="16" name="">
            <a:extLst xmlns:a="http://schemas.openxmlformats.org/drawingml/2006/main">
              <a:ext uri="{FF2B5EF4-FFF2-40B4-BE49-F238E27FC236}">
                <a16:creationId xmlns:a16="http://schemas.microsoft.com/office/drawing/2014/main" id="{9C53AB6C-F185-479B-A5DE-87A5F78A7D06}"/>
              </a:ext>
            </a:extLst>
          </p:cNvPr>
          <p:cNvSpPr>
            <a:spLocks xmlns:a="http://schemas.openxmlformats.org/drawingml/2006/main" noGrp="1"/>
          </p:cNvSpPr>
          <p:nvPr/>
        </p:nvSpPr>
        <p:spPr>
          <a:xfrm xmlns:a="http://schemas.openxmlformats.org/drawingml/2006/main">
            <a:off x="6743700" y="2895600"/>
            <a:ext cx="48958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Dùng để chứng minh: đời sống nhân dân là một phương diện cụ thể của mục tiêu chính trị.</a:t>
            </a:r>
          </a:p>
          <a:p xmlns:a="http://schemas.openxmlformats.org/drawingml/2006/main">
            <a:r>
              <a:t/>
            </a:r>
          </a:p>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Không nói đây là định nghĩa đầy đủ duy nhất của “hạnh phúc”.</a:t>
            </a:r>
          </a:p>
        </p:txBody>
      </p:sp>
      <p:sp>
        <p:nvSpPr>
          <p:cNvPr id="17" name="">
            <a:extLst xmlns:a="http://schemas.openxmlformats.org/drawingml/2006/main">
              <a:ext uri="{FF2B5EF4-FFF2-40B4-BE49-F238E27FC236}">
                <a16:creationId xmlns:a16="http://schemas.microsoft.com/office/drawing/2014/main" id="{098CF859-811E-455B-9D99-1072852D788A}"/>
              </a:ext>
            </a:extLst>
          </p:cNvPr>
          <p:cNvSpPr>
            <a:spLocks xmlns:a="http://schemas.openxmlformats.org/drawingml/2006/main" noGrp="1"/>
          </p:cNvSpPr>
          <p:nvPr/>
        </p:nvSpPr>
        <p:spPr>
          <a:xfrm xmlns:a="http://schemas.openxmlformats.org/drawingml/2006/main">
            <a:off x="400050" y="5429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Quy tắc đọc nguồn: trích nguyên văn ≠ diễn giải của nhóm ≠ kết luận tuyệt đối.</a:t>
            </a:r>
          </a:p>
        </p:txBody>
      </p:sp>
      <p:sp>
        <p:nvSpPr>
          <p:cNvPr id="18" name="">
            <a:extLst xmlns:a="http://schemas.openxmlformats.org/drawingml/2006/main">
              <a:ext uri="{FF2B5EF4-FFF2-40B4-BE49-F238E27FC236}">
                <a16:creationId xmlns:a16="http://schemas.microsoft.com/office/drawing/2014/main" id="{AFC588B9-38C8-44B2-BF0F-C901A445F708}"/>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Hồ Chí Minh Toàn tập, Tập 4, tr.64 và tr.175. Bản in trong Google Drive của nhóm.</a:t>
            </a:r>
          </a:p>
        </p:txBody>
      </p:sp>
    </p:spTree>
    <p:extLst>
      <p:ext uri="{BB962C8B-B14F-4D97-AF65-F5344CB8AC3E}">
        <p14:creationId xmlns:p14="http://schemas.microsoft.com/office/powerpoint/2010/main" val="746692006"/>
      </p:ext>
    </p:extLst>
  </p:cSld>
</p:sld>
</file>

<file path=ppt/slides/slide6.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2176E16-4070-4EC9-8804-A7198400940A}"/>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D7CCED3F-EE2B-4202-A1F0-97750B2D462D}"/>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CONCEPT FRAMEWORK</a:t>
            </a:r>
          </a:p>
        </p:txBody>
      </p:sp>
      <p:sp>
        <p:nvSpPr>
          <p:cNvPr id="3" name="">
            <a:extLst xmlns:a="http://schemas.openxmlformats.org/drawingml/2006/main">
              <a:ext uri="{FF2B5EF4-FFF2-40B4-BE49-F238E27FC236}">
                <a16:creationId xmlns:a16="http://schemas.microsoft.com/office/drawing/2014/main" id="{E04615B1-2F7C-4D14-AB2E-D50673400E78}"/>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06</a:t>
            </a:r>
          </a:p>
        </p:txBody>
      </p:sp>
      <p:sp>
        <p:nvSpPr>
          <p:cNvPr id="4" name="">
            <a:extLst xmlns:a="http://schemas.openxmlformats.org/drawingml/2006/main">
              <a:ext uri="{FF2B5EF4-FFF2-40B4-BE49-F238E27FC236}">
                <a16:creationId xmlns:a16="http://schemas.microsoft.com/office/drawing/2014/main" id="{17934607-21F6-4E3C-8008-BAFBCB1EE873}"/>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1.1 • CONCEPT</a:t>
            </a:r>
          </a:p>
        </p:txBody>
      </p:sp>
      <p:sp>
        <p:nvSpPr>
          <p:cNvPr id="5" name="">
            <a:extLst xmlns:a="http://schemas.openxmlformats.org/drawingml/2006/main">
              <a:ext uri="{FF2B5EF4-FFF2-40B4-BE49-F238E27FC236}">
                <a16:creationId xmlns:a16="http://schemas.microsoft.com/office/drawing/2014/main" id="{EB235E15-AF96-4BD5-A7A8-8C00300DEFB7}"/>
              </a:ext>
            </a:extLst>
          </p:cNvPr>
          <p:cNvSpPr>
            <a:spLocks xmlns:a="http://schemas.openxmlformats.org/drawingml/2006/main" noGrp="1"/>
          </p:cNvSpPr>
          <p:nvPr/>
        </p:nvSpPr>
        <p:spPr>
          <a:xfrm xmlns:a="http://schemas.openxmlformats.org/drawingml/2006/main">
            <a:off x="40005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Ba giá trị được đọc cùng nhau — nhưng không xóa ranh giới khái niệm</a:t>
            </a:r>
          </a:p>
        </p:txBody>
      </p:sp>
      <p:sp>
        <p:nvSpPr>
          <p:cNvPr id="6" name="">
            <a:extLst xmlns:a="http://schemas.openxmlformats.org/drawingml/2006/main">
              <a:ext uri="{FF2B5EF4-FFF2-40B4-BE49-F238E27FC236}">
                <a16:creationId xmlns:a16="http://schemas.microsoft.com/office/drawing/2014/main" id="{A0A477F3-6CF0-4D2D-BF79-CA44EF67108C}"/>
              </a:ext>
            </a:extLst>
          </p:cNvPr>
          <p:cNvSpPr>
            <a:spLocks xmlns:a="http://schemas.openxmlformats.org/drawingml/2006/main" noGrp="1"/>
          </p:cNvSpPr>
          <p:nvPr/>
        </p:nvSpPr>
        <p:spPr>
          <a:xfrm xmlns:a="http://schemas.openxmlformats.org/drawingml/2006/main">
            <a:off x="400050" y="1257300"/>
            <a:ext cx="923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Giáo trình 2019 cung cấp khung khái niệm; Tập 4 cung cấp câu chữ để kiểm tra ý nghĩa trong đời sống.</a:t>
            </a:r>
          </a:p>
        </p:txBody>
      </p:sp>
      <p:sp>
        <p:nvSpPr>
          <p:cNvPr id="7" name="">
            <a:extLst xmlns:a="http://schemas.openxmlformats.org/drawingml/2006/main">
              <a:ext uri="{FF2B5EF4-FFF2-40B4-BE49-F238E27FC236}">
                <a16:creationId xmlns:a16="http://schemas.microsoft.com/office/drawing/2014/main" id="{270534DA-2F8E-415C-AA53-E5C4FFEBBD22}"/>
              </a:ext>
            </a:extLst>
          </p:cNvPr>
          <p:cNvSpPr>
            <a:spLocks xmlns:a="http://schemas.openxmlformats.org/drawingml/2006/main" noGrp="1"/>
          </p:cNvSpPr>
          <p:nvPr/>
        </p:nvSpPr>
        <p:spPr>
          <a:xfrm xmlns:a="http://schemas.openxmlformats.org/drawingml/2006/main">
            <a:off x="400050" y="2190750"/>
            <a:ext cx="3524250" cy="2705100"/>
          </a:xfrm>
          <a:prstGeom xmlns:a="http://schemas.openxmlformats.org/drawingml/2006/main" prst="roundRect">
            <a:avLst>
              <a:gd name="adj" fmla="val 4930"/>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BBE0D328-320B-48E9-A4ED-133772F20396}"/>
              </a:ext>
            </a:extLst>
          </p:cNvPr>
          <p:cNvSpPr>
            <a:spLocks xmlns:a="http://schemas.openxmlformats.org/drawingml/2006/main" noGrp="1"/>
          </p:cNvSpPr>
          <p:nvPr/>
        </p:nvSpPr>
        <p:spPr>
          <a:xfrm xmlns:a="http://schemas.openxmlformats.org/drawingml/2006/main">
            <a:off x="552450" y="236220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24940D8D-86C5-465E-87D3-6ABBB1646530}"/>
              </a:ext>
            </a:extLst>
          </p:cNvPr>
          <p:cNvSpPr>
            <a:spLocks xmlns:a="http://schemas.openxmlformats.org/drawingml/2006/main" noGrp="1"/>
          </p:cNvSpPr>
          <p:nvPr/>
        </p:nvSpPr>
        <p:spPr>
          <a:xfrm xmlns:a="http://schemas.openxmlformats.org/drawingml/2006/main">
            <a:off x="742950" y="23622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01 / CHÍNH TRỊ</a:t>
            </a:r>
          </a:p>
        </p:txBody>
      </p:sp>
      <p:sp>
        <p:nvSpPr>
          <p:cNvPr id="10" name="">
            <a:extLst xmlns:a="http://schemas.openxmlformats.org/drawingml/2006/main">
              <a:ext uri="{FF2B5EF4-FFF2-40B4-BE49-F238E27FC236}">
                <a16:creationId xmlns:a16="http://schemas.microsoft.com/office/drawing/2014/main" id="{254B17A2-BCB2-40D9-A367-DDB9454D5D20}"/>
              </a:ext>
            </a:extLst>
          </p:cNvPr>
          <p:cNvSpPr>
            <a:spLocks xmlns:a="http://schemas.openxmlformats.org/drawingml/2006/main" noGrp="1"/>
          </p:cNvSpPr>
          <p:nvPr/>
        </p:nvSpPr>
        <p:spPr>
          <a:xfrm xmlns:a="http://schemas.openxmlformats.org/drawingml/2006/main">
            <a:off x="742950" y="25908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ĐỘC LẬP</a:t>
            </a:r>
          </a:p>
        </p:txBody>
      </p:sp>
      <p:sp>
        <p:nvSpPr>
          <p:cNvPr id="11" name="">
            <a:extLst xmlns:a="http://schemas.openxmlformats.org/drawingml/2006/main">
              <a:ext uri="{FF2B5EF4-FFF2-40B4-BE49-F238E27FC236}">
                <a16:creationId xmlns:a16="http://schemas.microsoft.com/office/drawing/2014/main" id="{53DCECD8-0814-45E9-81F1-67D71F341CCB}"/>
              </a:ext>
            </a:extLst>
          </p:cNvPr>
          <p:cNvSpPr>
            <a:spLocks xmlns:a="http://schemas.openxmlformats.org/drawingml/2006/main" noGrp="1"/>
          </p:cNvSpPr>
          <p:nvPr/>
        </p:nvSpPr>
        <p:spPr>
          <a:xfrm xmlns:a="http://schemas.openxmlformats.org/drawingml/2006/main">
            <a:off x="742950" y="2990850"/>
            <a:ext cx="302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Quyền thiêng liêng, bất khả xâm phạm của các dân tộc; đồng thời phải là nền độc lập thật sự, hoàn toàn và triệt để.</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Khung giáo trình: tr.41 và tr.44.</a:t>
            </a:r>
          </a:p>
        </p:txBody>
      </p:sp>
      <p:sp>
        <p:nvSpPr>
          <p:cNvPr id="12" name="">
            <a:extLst xmlns:a="http://schemas.openxmlformats.org/drawingml/2006/main">
              <a:ext uri="{FF2B5EF4-FFF2-40B4-BE49-F238E27FC236}">
                <a16:creationId xmlns:a16="http://schemas.microsoft.com/office/drawing/2014/main" id="{56F642B4-F333-4340-9031-437E2E8971C4}"/>
              </a:ext>
            </a:extLst>
          </p:cNvPr>
          <p:cNvSpPr>
            <a:spLocks xmlns:a="http://schemas.openxmlformats.org/drawingml/2006/main" noGrp="1"/>
          </p:cNvSpPr>
          <p:nvPr/>
        </p:nvSpPr>
        <p:spPr>
          <a:xfrm xmlns:a="http://schemas.openxmlformats.org/drawingml/2006/main">
            <a:off x="4333875" y="2190750"/>
            <a:ext cx="3524250" cy="2705100"/>
          </a:xfrm>
          <a:prstGeom xmlns:a="http://schemas.openxmlformats.org/drawingml/2006/main" prst="roundRect">
            <a:avLst>
              <a:gd name="adj" fmla="val 4930"/>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8588C3FB-FFE6-4309-8204-83CF2BA4EE2A}"/>
              </a:ext>
            </a:extLst>
          </p:cNvPr>
          <p:cNvSpPr>
            <a:spLocks xmlns:a="http://schemas.openxmlformats.org/drawingml/2006/main" noGrp="1"/>
          </p:cNvSpPr>
          <p:nvPr/>
        </p:nvSpPr>
        <p:spPr>
          <a:xfrm xmlns:a="http://schemas.openxmlformats.org/drawingml/2006/main">
            <a:off x="4486275" y="236220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497AF4D4-AF9F-4AD0-9371-0BB8D76CEAA1}"/>
              </a:ext>
            </a:extLst>
          </p:cNvPr>
          <p:cNvSpPr>
            <a:spLocks xmlns:a="http://schemas.openxmlformats.org/drawingml/2006/main" noGrp="1"/>
          </p:cNvSpPr>
          <p:nvPr/>
        </p:nvSpPr>
        <p:spPr>
          <a:xfrm xmlns:a="http://schemas.openxmlformats.org/drawingml/2006/main">
            <a:off x="4676775" y="23622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02 / CON NGƯỜI</a:t>
            </a:r>
          </a:p>
        </p:txBody>
      </p:sp>
      <p:sp>
        <p:nvSpPr>
          <p:cNvPr id="15" name="">
            <a:extLst xmlns:a="http://schemas.openxmlformats.org/drawingml/2006/main">
              <a:ext uri="{FF2B5EF4-FFF2-40B4-BE49-F238E27FC236}">
                <a16:creationId xmlns:a16="http://schemas.microsoft.com/office/drawing/2014/main" id="{6912EDD5-5AAC-45C0-A59F-44CE3A94D317}"/>
              </a:ext>
            </a:extLst>
          </p:cNvPr>
          <p:cNvSpPr>
            <a:spLocks xmlns:a="http://schemas.openxmlformats.org/drawingml/2006/main" noGrp="1"/>
          </p:cNvSpPr>
          <p:nvPr/>
        </p:nvSpPr>
        <p:spPr>
          <a:xfrm xmlns:a="http://schemas.openxmlformats.org/drawingml/2006/main">
            <a:off x="4676775" y="25908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TỰ DO</a:t>
            </a:r>
          </a:p>
        </p:txBody>
      </p:sp>
      <p:sp>
        <p:nvSpPr>
          <p:cNvPr id="16" name="">
            <a:extLst xmlns:a="http://schemas.openxmlformats.org/drawingml/2006/main">
              <a:ext uri="{FF2B5EF4-FFF2-40B4-BE49-F238E27FC236}">
                <a16:creationId xmlns:a16="http://schemas.microsoft.com/office/drawing/2014/main" id="{B0DB2940-5670-4448-A389-F430B1B7ED49}"/>
              </a:ext>
            </a:extLst>
          </p:cNvPr>
          <p:cNvSpPr>
            <a:spLocks xmlns:a="http://schemas.openxmlformats.org/drawingml/2006/main" noGrp="1"/>
          </p:cNvSpPr>
          <p:nvPr/>
        </p:nvSpPr>
        <p:spPr>
          <a:xfrm xmlns:a="http://schemas.openxmlformats.org/drawingml/2006/main">
            <a:off x="4676775" y="2990850"/>
            <a:ext cx="302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Trong câu hỏi trung tâm của nhóm, tự do được đọc như giá trị phải gắn với nhân dân — không tách khỏi câu hỏi “ai được hưởng?”.</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Khung liên hệ: tr.43; T4 tr.64.</a:t>
            </a:r>
          </a:p>
        </p:txBody>
      </p:sp>
      <p:sp>
        <p:nvSpPr>
          <p:cNvPr id="17" name="">
            <a:extLst xmlns:a="http://schemas.openxmlformats.org/drawingml/2006/main">
              <a:ext uri="{FF2B5EF4-FFF2-40B4-BE49-F238E27FC236}">
                <a16:creationId xmlns:a16="http://schemas.microsoft.com/office/drawing/2014/main" id="{28366030-169D-4A76-B21D-B488795324F2}"/>
              </a:ext>
            </a:extLst>
          </p:cNvPr>
          <p:cNvSpPr>
            <a:spLocks xmlns:a="http://schemas.openxmlformats.org/drawingml/2006/main" noGrp="1"/>
          </p:cNvSpPr>
          <p:nvPr/>
        </p:nvSpPr>
        <p:spPr>
          <a:xfrm xmlns:a="http://schemas.openxmlformats.org/drawingml/2006/main">
            <a:off x="8286750" y="2190750"/>
            <a:ext cx="3524250" cy="2705100"/>
          </a:xfrm>
          <a:prstGeom xmlns:a="http://schemas.openxmlformats.org/drawingml/2006/main" prst="roundRect">
            <a:avLst>
              <a:gd name="adj" fmla="val 4930"/>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74C2A4E8-ECFC-48C0-BC83-16EAD5EB229F}"/>
              </a:ext>
            </a:extLst>
          </p:cNvPr>
          <p:cNvSpPr>
            <a:spLocks xmlns:a="http://schemas.openxmlformats.org/drawingml/2006/main" noGrp="1"/>
          </p:cNvSpPr>
          <p:nvPr/>
        </p:nvSpPr>
        <p:spPr>
          <a:xfrm xmlns:a="http://schemas.openxmlformats.org/drawingml/2006/main">
            <a:off x="8439150" y="236220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BF9EE40C-BABD-44ED-8E36-4A3203291200}"/>
              </a:ext>
            </a:extLst>
          </p:cNvPr>
          <p:cNvSpPr>
            <a:spLocks xmlns:a="http://schemas.openxmlformats.org/drawingml/2006/main" noGrp="1"/>
          </p:cNvSpPr>
          <p:nvPr/>
        </p:nvSpPr>
        <p:spPr>
          <a:xfrm xmlns:a="http://schemas.openxmlformats.org/drawingml/2006/main">
            <a:off x="8629650" y="23622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03 / ĐỜI SỐNG</a:t>
            </a:r>
          </a:p>
        </p:txBody>
      </p:sp>
      <p:sp>
        <p:nvSpPr>
          <p:cNvPr id="20" name="">
            <a:extLst xmlns:a="http://schemas.openxmlformats.org/drawingml/2006/main">
              <a:ext uri="{FF2B5EF4-FFF2-40B4-BE49-F238E27FC236}">
                <a16:creationId xmlns:a16="http://schemas.microsoft.com/office/drawing/2014/main" id="{0E0E45DD-2B09-475A-B070-3312B9D53331}"/>
              </a:ext>
            </a:extLst>
          </p:cNvPr>
          <p:cNvSpPr>
            <a:spLocks xmlns:a="http://schemas.openxmlformats.org/drawingml/2006/main" noGrp="1"/>
          </p:cNvSpPr>
          <p:nvPr/>
        </p:nvSpPr>
        <p:spPr>
          <a:xfrm xmlns:a="http://schemas.openxmlformats.org/drawingml/2006/main">
            <a:off x="8629650" y="25908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HẠNH PHÚC</a:t>
            </a:r>
          </a:p>
        </p:txBody>
      </p:sp>
      <p:sp>
        <p:nvSpPr>
          <p:cNvPr id="21" name="">
            <a:extLst xmlns:a="http://schemas.openxmlformats.org/drawingml/2006/main">
              <a:ext uri="{FF2B5EF4-FFF2-40B4-BE49-F238E27FC236}">
                <a16:creationId xmlns:a16="http://schemas.microsoft.com/office/drawing/2014/main" id="{BF3A3DC9-3A30-44AC-A783-619D7CE23D1A}"/>
              </a:ext>
            </a:extLst>
          </p:cNvPr>
          <p:cNvSpPr>
            <a:spLocks xmlns:a="http://schemas.openxmlformats.org/drawingml/2006/main" noGrp="1"/>
          </p:cNvSpPr>
          <p:nvPr/>
        </p:nvSpPr>
        <p:spPr>
          <a:xfrm xmlns:a="http://schemas.openxmlformats.org/drawingml/2006/main">
            <a:off x="8629650" y="2990850"/>
            <a:ext cx="302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Không thu hẹp thành cảm xúc. T4 tr.175 gợi một phương diện cụ thể: ăn, mặc, ở, học hành.</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Dấu * trên bản đồ nhắc đây không phải toàn bộ định nghĩa.</a:t>
            </a:r>
          </a:p>
        </p:txBody>
      </p:sp>
      <p:sp>
        <p:nvSpPr>
          <p:cNvPr id="22" name="">
            <a:extLst xmlns:a="http://schemas.openxmlformats.org/drawingml/2006/main">
              <a:ext uri="{FF2B5EF4-FFF2-40B4-BE49-F238E27FC236}">
                <a16:creationId xmlns:a16="http://schemas.microsoft.com/office/drawing/2014/main" id="{A4BFD4D3-DA21-45A3-BB1F-B849C3CE58FD}"/>
              </a:ext>
            </a:extLst>
          </p:cNvPr>
          <p:cNvSpPr>
            <a:spLocks xmlns:a="http://schemas.openxmlformats.org/drawingml/2006/main" noGrp="1"/>
          </p:cNvSpPr>
          <p:nvPr/>
        </p:nvSpPr>
        <p:spPr>
          <a:xfrm xmlns:a="http://schemas.openxmlformats.org/drawingml/2006/main">
            <a:off x="400050" y="5429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6213A"/>
                </a:solidFill>
                <a:latin typeface="Lora"/>
                <a:ea typeface="Lora"/>
                <a:cs typeface="Lora"/>
              </a:defRPr>
            </a:pPr>
            <a:r>
              <a:rPr sz="1350" b="1" i="0">
                <a:solidFill>
                  <a:srgbClr val="16213A"/>
                </a:solidFill>
                <a:latin typeface="Lora"/>
                <a:ea typeface="Lora"/>
                <a:cs typeface="Lora"/>
              </a:rPr>
              <a:t>Nguồn giáo trình: “Độc lập dân tộc phải gắn liền với tự do, hạnh phúc của nhân dân” — Giáo trình 2019, tr.43.</a:t>
            </a:r>
          </a:p>
        </p:txBody>
      </p:sp>
      <p:sp>
        <p:nvSpPr>
          <p:cNvPr id="23" name="">
            <a:extLst xmlns:a="http://schemas.openxmlformats.org/drawingml/2006/main">
              <a:ext uri="{FF2B5EF4-FFF2-40B4-BE49-F238E27FC236}">
                <a16:creationId xmlns:a16="http://schemas.microsoft.com/office/drawing/2014/main" id="{0D0F34F9-7D22-46EC-AB94-233D067E89FF}"/>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lý luận: Giáo trình TTHCM 2019, Chương III, tr.41, 43, 44; Hồ Chí Minh Toàn tập, T4, tr.64, 175.</a:t>
            </a:r>
          </a:p>
        </p:txBody>
      </p:sp>
    </p:spTree>
    <p:extLst>
      <p:ext uri="{BB962C8B-B14F-4D97-AF65-F5344CB8AC3E}">
        <p14:creationId xmlns:p14="http://schemas.microsoft.com/office/powerpoint/2010/main" val="1440399620"/>
      </p:ext>
    </p:extLst>
  </p:cSld>
</p:sld>
</file>

<file path=ppt/slides/slide7.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861AE02-96FE-4621-ABB9-7DC7B89826B8}"/>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6A1DEB85-47FF-4E4E-A6D0-B428E4960139}"/>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ANALYTICAL DISTINCTION</a:t>
            </a:r>
          </a:p>
        </p:txBody>
      </p:sp>
      <p:sp>
        <p:nvSpPr>
          <p:cNvPr id="3" name="">
            <a:extLst xmlns:a="http://schemas.openxmlformats.org/drawingml/2006/main">
              <a:ext uri="{FF2B5EF4-FFF2-40B4-BE49-F238E27FC236}">
                <a16:creationId xmlns:a16="http://schemas.microsoft.com/office/drawing/2014/main" id="{ED3101E6-65FA-4C03-BFBD-338BB85F716C}"/>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07</a:t>
            </a:r>
          </a:p>
        </p:txBody>
      </p:sp>
      <p:sp>
        <p:nvSpPr>
          <p:cNvPr id="4" name="">
            <a:extLst xmlns:a="http://schemas.openxmlformats.org/drawingml/2006/main">
              <a:ext uri="{FF2B5EF4-FFF2-40B4-BE49-F238E27FC236}">
                <a16:creationId xmlns:a16="http://schemas.microsoft.com/office/drawing/2014/main" id="{34B6B732-6A50-4A28-B0B2-53001215A14D}"/>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1.1 • PHÂN TÍCH</a:t>
            </a:r>
          </a:p>
        </p:txBody>
      </p:sp>
      <p:sp>
        <p:nvSpPr>
          <p:cNvPr id="5" name="">
            <a:extLst xmlns:a="http://schemas.openxmlformats.org/drawingml/2006/main">
              <a:ext uri="{FF2B5EF4-FFF2-40B4-BE49-F238E27FC236}">
                <a16:creationId xmlns:a16="http://schemas.microsoft.com/office/drawing/2014/main" id="{1908FE16-C90A-401E-874A-E8FEBAB5F205}"/>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Tách hai phương diện để không rơi vào mâu thuẫn nội bộ</a:t>
            </a:r>
          </a:p>
        </p:txBody>
      </p:sp>
      <p:sp>
        <p:nvSpPr>
          <p:cNvPr id="6" name="">
            <a:extLst xmlns:a="http://schemas.openxmlformats.org/drawingml/2006/main">
              <a:ext uri="{FF2B5EF4-FFF2-40B4-BE49-F238E27FC236}">
                <a16:creationId xmlns:a16="http://schemas.microsoft.com/office/drawing/2014/main" id="{34E24501-751E-4F9A-9386-D3FAEDF72912}"/>
              </a:ext>
            </a:extLst>
          </p:cNvPr>
          <p:cNvSpPr>
            <a:spLocks xmlns:a="http://schemas.openxmlformats.org/drawingml/2006/main" noGrp="1"/>
          </p:cNvSpPr>
          <p:nvPr/>
        </p:nvSpPr>
        <p:spPr>
          <a:xfrm xmlns:a="http://schemas.openxmlformats.org/drawingml/2006/main">
            <a:off x="400050" y="12573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Một từ “độc lập” đang được dùng ở hai tầng: điều kiện chính trị và ý nghĩa được trải nghiệm trong đời sống.</a:t>
            </a:r>
          </a:p>
        </p:txBody>
      </p:sp>
      <p:sp>
        <p:nvSpPr>
          <p:cNvPr id="7" name="">
            <a:extLst xmlns:a="http://schemas.openxmlformats.org/drawingml/2006/main">
              <a:ext uri="{FF2B5EF4-FFF2-40B4-BE49-F238E27FC236}">
                <a16:creationId xmlns:a16="http://schemas.microsoft.com/office/drawing/2014/main" id="{78E24995-8F33-468D-BFCB-42575A8ABBC8}"/>
              </a:ext>
            </a:extLst>
          </p:cNvPr>
          <p:cNvSpPr>
            <a:spLocks xmlns:a="http://schemas.openxmlformats.org/drawingml/2006/main" noGrp="1"/>
          </p:cNvSpPr>
          <p:nvPr/>
        </p:nvSpPr>
        <p:spPr>
          <a:xfrm xmlns:a="http://schemas.openxmlformats.org/drawingml/2006/main">
            <a:off x="400050" y="2095500"/>
            <a:ext cx="5334000" cy="3048000"/>
          </a:xfrm>
          <a:prstGeom xmlns:a="http://schemas.openxmlformats.org/drawingml/2006/main" prst="roundRect">
            <a:avLst>
              <a:gd name="adj" fmla="val 5000"/>
            </a:avLst>
          </a:prstGeom>
          <a:solidFill xmlns:a="http://schemas.openxmlformats.org/drawingml/2006/main">
            <a:srgbClr val="F4F7FC"/>
          </a:solidFill>
          <a:ln xmlns:a="http://schemas.openxmlformats.org/drawingml/2006/main" w="9525">
            <a:solidFill>
              <a:srgbClr val="2F5FB5"/>
            </a:solidFill>
            <a:prstDash val="solid"/>
          </a:ln>
        </p:spPr>
      </p:sp>
      <p:sp>
        <p:nvSpPr>
          <p:cNvPr id="8" name="">
            <a:extLst xmlns:a="http://schemas.openxmlformats.org/drawingml/2006/main">
              <a:ext uri="{FF2B5EF4-FFF2-40B4-BE49-F238E27FC236}">
                <a16:creationId xmlns:a16="http://schemas.microsoft.com/office/drawing/2014/main" id="{B15077F8-CBEC-47DE-B362-5D6165E2FEBE}"/>
              </a:ext>
            </a:extLst>
          </p:cNvPr>
          <p:cNvSpPr>
            <a:spLocks xmlns:a="http://schemas.openxmlformats.org/drawingml/2006/main" noGrp="1"/>
          </p:cNvSpPr>
          <p:nvPr/>
        </p:nvSpPr>
        <p:spPr>
          <a:xfrm xmlns:a="http://schemas.openxmlformats.org/drawingml/2006/main">
            <a:off x="666750" y="23622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PHƯƠNG DIỆN A</a:t>
            </a:r>
          </a:p>
        </p:txBody>
      </p:sp>
      <p:sp>
        <p:nvSpPr>
          <p:cNvPr id="9" name="">
            <a:extLst xmlns:a="http://schemas.openxmlformats.org/drawingml/2006/main">
              <a:ext uri="{FF2B5EF4-FFF2-40B4-BE49-F238E27FC236}">
                <a16:creationId xmlns:a16="http://schemas.microsoft.com/office/drawing/2014/main" id="{2C898658-9F19-4F52-8F4F-7B0C13FE0F94}"/>
              </a:ext>
            </a:extLst>
          </p:cNvPr>
          <p:cNvSpPr>
            <a:spLocks xmlns:a="http://schemas.openxmlformats.org/drawingml/2006/main" noGrp="1"/>
          </p:cNvSpPr>
          <p:nvPr/>
        </p:nvSpPr>
        <p:spPr>
          <a:xfrm xmlns:a="http://schemas.openxmlformats.org/drawingml/2006/main">
            <a:off x="666750" y="2686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6213A"/>
                </a:solidFill>
                <a:latin typeface="Lora"/>
                <a:ea typeface="Lora"/>
                <a:cs typeface="Lora"/>
              </a:defRPr>
            </a:pPr>
            <a:r>
              <a:rPr sz="1800" b="1" i="0">
                <a:solidFill>
                  <a:srgbClr val="16213A"/>
                </a:solidFill>
                <a:latin typeface="Lora"/>
                <a:ea typeface="Lora"/>
                <a:cs typeface="Lora"/>
              </a:rPr>
              <a:t>Độc lập như điều kiện chính trị</a:t>
            </a:r>
          </a:p>
        </p:txBody>
      </p:sp>
      <p:sp>
        <p:nvSpPr>
          <p:cNvPr id="10" name="">
            <a:extLst xmlns:a="http://schemas.openxmlformats.org/drawingml/2006/main">
              <a:ext uri="{FF2B5EF4-FFF2-40B4-BE49-F238E27FC236}">
                <a16:creationId xmlns:a16="http://schemas.microsoft.com/office/drawing/2014/main" id="{7C45536B-0467-4AE5-9F57-BDE72F4DB4ED}"/>
              </a:ext>
            </a:extLst>
          </p:cNvPr>
          <p:cNvSpPr>
            <a:spLocks xmlns:a="http://schemas.openxmlformats.org/drawingml/2006/main" noGrp="1"/>
          </p:cNvSpPr>
          <p:nvPr/>
        </p:nvSpPr>
        <p:spPr>
          <a:xfrm xmlns:a="http://schemas.openxmlformats.org/drawingml/2006/main">
            <a:off x="666750" y="32766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chủ quyền và quyền tự quyết</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nền độc lập của dân tộc</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không đồng nhất với một cảm xúc cá nhân</a:t>
            </a:r>
          </a:p>
          <a:p xmlns:a="http://schemas.openxmlformats.org/drawingml/2006/main">
            <a:r>
              <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Đây là nền tảng cần được xác lập và bảo vệ.</a:t>
            </a:r>
          </a:p>
        </p:txBody>
      </p:sp>
      <p:sp>
        <p:nvSpPr>
          <p:cNvPr id="11" name="">
            <a:extLst xmlns:a="http://schemas.openxmlformats.org/drawingml/2006/main">
              <a:ext uri="{FF2B5EF4-FFF2-40B4-BE49-F238E27FC236}">
                <a16:creationId xmlns:a16="http://schemas.microsoft.com/office/drawing/2014/main" id="{9D524B71-9E54-4F66-98DD-042AE1A5629A}"/>
              </a:ext>
            </a:extLst>
          </p:cNvPr>
          <p:cNvSpPr>
            <a:spLocks xmlns:a="http://schemas.openxmlformats.org/drawingml/2006/main" noGrp="1"/>
          </p:cNvSpPr>
          <p:nvPr/>
        </p:nvSpPr>
        <p:spPr>
          <a:xfrm xmlns:a="http://schemas.openxmlformats.org/drawingml/2006/main">
            <a:off x="6457950" y="2095500"/>
            <a:ext cx="5334000" cy="3048000"/>
          </a:xfrm>
          <a:prstGeom xmlns:a="http://schemas.openxmlformats.org/drawingml/2006/main" prst="roundRect">
            <a:avLst>
              <a:gd name="adj" fmla="val 5000"/>
            </a:avLst>
          </a:prstGeom>
          <a:solidFill xmlns:a="http://schemas.openxmlformats.org/drawingml/2006/main">
            <a:srgbClr val="FBF4E4"/>
          </a:solidFill>
          <a:ln xmlns:a="http://schemas.openxmlformats.org/drawingml/2006/main" w="9525">
            <a:solidFill>
              <a:srgbClr val="C99428"/>
            </a:solidFill>
            <a:prstDash val="solid"/>
          </a:ln>
        </p:spPr>
      </p:sp>
      <p:sp>
        <p:nvSpPr>
          <p:cNvPr id="12" name="">
            <a:extLst xmlns:a="http://schemas.openxmlformats.org/drawingml/2006/main">
              <a:ext uri="{FF2B5EF4-FFF2-40B4-BE49-F238E27FC236}">
                <a16:creationId xmlns:a16="http://schemas.microsoft.com/office/drawing/2014/main" id="{979E3D1F-C513-402E-83FC-A0E603336077}"/>
              </a:ext>
            </a:extLst>
          </p:cNvPr>
          <p:cNvSpPr>
            <a:spLocks xmlns:a="http://schemas.openxmlformats.org/drawingml/2006/main" noGrp="1"/>
          </p:cNvSpPr>
          <p:nvPr/>
        </p:nvSpPr>
        <p:spPr>
          <a:xfrm xmlns:a="http://schemas.openxmlformats.org/drawingml/2006/main">
            <a:off x="6724650" y="23622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8A651F"/>
                </a:solidFill>
                <a:latin typeface="Roboto"/>
                <a:ea typeface="Roboto"/>
                <a:cs typeface="Roboto"/>
              </a:defRPr>
            </a:pPr>
            <a:r>
              <a:rPr sz="900" b="1" i="0">
                <a:solidFill>
                  <a:srgbClr val="8A651F"/>
                </a:solidFill>
                <a:latin typeface="Roboto"/>
                <a:ea typeface="Roboto"/>
                <a:cs typeface="Roboto"/>
              </a:rPr>
              <a:t>PHƯƠNG DIỆN B</a:t>
            </a:r>
          </a:p>
        </p:txBody>
      </p:sp>
      <p:sp>
        <p:nvSpPr>
          <p:cNvPr id="13" name="">
            <a:extLst xmlns:a="http://schemas.openxmlformats.org/drawingml/2006/main">
              <a:ext uri="{FF2B5EF4-FFF2-40B4-BE49-F238E27FC236}">
                <a16:creationId xmlns:a16="http://schemas.microsoft.com/office/drawing/2014/main" id="{5CD729FA-0FF3-4549-BC80-FC95B4601102}"/>
              </a:ext>
            </a:extLst>
          </p:cNvPr>
          <p:cNvSpPr>
            <a:spLocks xmlns:a="http://schemas.openxmlformats.org/drawingml/2006/main" noGrp="1"/>
          </p:cNvSpPr>
          <p:nvPr/>
        </p:nvSpPr>
        <p:spPr>
          <a:xfrm xmlns:a="http://schemas.openxmlformats.org/drawingml/2006/main">
            <a:off x="6724650" y="26860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6213A"/>
                </a:solidFill>
                <a:latin typeface="Lora"/>
                <a:ea typeface="Lora"/>
                <a:cs typeface="Lora"/>
              </a:defRPr>
            </a:pPr>
            <a:r>
              <a:rPr sz="1800" b="1" i="0">
                <a:solidFill>
                  <a:srgbClr val="16213A"/>
                </a:solidFill>
                <a:latin typeface="Lora"/>
                <a:ea typeface="Lora"/>
                <a:cs typeface="Lora"/>
              </a:rPr>
              <a:t>Độc lập như ý nghĩa trong đời sống</a:t>
            </a:r>
          </a:p>
        </p:txBody>
      </p:sp>
      <p:sp>
        <p:nvSpPr>
          <p:cNvPr id="14" name="">
            <a:extLst xmlns:a="http://schemas.openxmlformats.org/drawingml/2006/main">
              <a:ext uri="{FF2B5EF4-FFF2-40B4-BE49-F238E27FC236}">
                <a16:creationId xmlns:a16="http://schemas.microsoft.com/office/drawing/2014/main" id="{C87C0B89-D49C-434F-8107-914352F21757}"/>
              </a:ext>
            </a:extLst>
          </p:cNvPr>
          <p:cNvSpPr>
            <a:spLocks xmlns:a="http://schemas.openxmlformats.org/drawingml/2006/main" noGrp="1"/>
          </p:cNvSpPr>
          <p:nvPr/>
        </p:nvSpPr>
        <p:spPr>
          <a:xfrm xmlns:a="http://schemas.openxmlformats.org/drawingml/2006/main">
            <a:off x="6724650" y="32766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người dân có được tự do, hạnh phúc?</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các điều kiện sống có được quan tâm?</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nền độc lập có chạm tới đời sống không?</a:t>
            </a:r>
          </a:p>
          <a:p xmlns:a="http://schemas.openxmlformats.org/drawingml/2006/main">
            <a:r>
              <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Đây là thước đọc giá trị thực chất, không phải phép đo cơ học.</a:t>
            </a:r>
          </a:p>
        </p:txBody>
      </p:sp>
      <p:sp>
        <p:nvSpPr>
          <p:cNvPr id="15" name="">
            <a:extLst xmlns:a="http://schemas.openxmlformats.org/drawingml/2006/main">
              <a:ext uri="{FF2B5EF4-FFF2-40B4-BE49-F238E27FC236}">
                <a16:creationId xmlns:a16="http://schemas.microsoft.com/office/drawing/2014/main" id="{3D686695-B5CA-4B7C-96E5-C31EADE8E16B}"/>
              </a:ext>
            </a:extLst>
          </p:cNvPr>
          <p:cNvSpPr>
            <a:spLocks xmlns:a="http://schemas.openxmlformats.org/drawingml/2006/main" noGrp="1"/>
          </p:cNvSpPr>
          <p:nvPr/>
        </p:nvSpPr>
        <p:spPr>
          <a:xfrm xmlns:a="http://schemas.openxmlformats.org/drawingml/2006/main">
            <a:off x="400050" y="54673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Cầu nối của nhóm: B không phủ định A; B giúp giải thích ý nghĩa của A đối với nhân dân.</a:t>
            </a:r>
          </a:p>
        </p:txBody>
      </p:sp>
      <p:sp>
        <p:nvSpPr>
          <p:cNvPr id="16" name="">
            <a:extLst xmlns:a="http://schemas.openxmlformats.org/drawingml/2006/main">
              <a:ext uri="{FF2B5EF4-FFF2-40B4-BE49-F238E27FC236}">
                <a16:creationId xmlns:a16="http://schemas.microsoft.com/office/drawing/2014/main" id="{16A4DE0E-28E3-4789-9FB1-FAB383B7E9E0}"/>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Cách phân biệt là phân tích của nhóm, dựa trên Giáo trình 2019, tr.43 và Hồ Chí Minh Toàn tập, T4, tr.64.</a:t>
            </a:r>
          </a:p>
        </p:txBody>
      </p:sp>
    </p:spTree>
    <p:extLst>
      <p:ext uri="{BB962C8B-B14F-4D97-AF65-F5344CB8AC3E}">
        <p14:creationId xmlns:p14="http://schemas.microsoft.com/office/powerpoint/2010/main" val="774924974"/>
      </p:ext>
    </p:extLst>
  </p:cSld>
</p:sld>
</file>

<file path=ppt/slides/slide8.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8459325-27B9-49B4-B774-E739BB5DAAF0}"/>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3423477B-0239-4C57-93F4-4B5771F3BB3B}"/>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MEANING MAP</a:t>
            </a:r>
          </a:p>
        </p:txBody>
      </p:sp>
      <p:sp>
        <p:nvSpPr>
          <p:cNvPr id="3" name="">
            <a:extLst xmlns:a="http://schemas.openxmlformats.org/drawingml/2006/main">
              <a:ext uri="{FF2B5EF4-FFF2-40B4-BE49-F238E27FC236}">
                <a16:creationId xmlns:a16="http://schemas.microsoft.com/office/drawing/2014/main" id="{505C072F-D18E-4DED-B5EE-CEAC4ABDBA6E}"/>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08</a:t>
            </a:r>
          </a:p>
        </p:txBody>
      </p:sp>
      <p:sp>
        <p:nvSpPr>
          <p:cNvPr id="4" name="">
            <a:extLst xmlns:a="http://schemas.openxmlformats.org/drawingml/2006/main">
              <a:ext uri="{FF2B5EF4-FFF2-40B4-BE49-F238E27FC236}">
                <a16:creationId xmlns:a16="http://schemas.microsoft.com/office/drawing/2014/main" id="{9F776F64-876A-4C98-AD3E-6398CBE3EDE3}"/>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1.1 → 1.3 • MEANING MAP / VISUAL ESSAY</a:t>
            </a:r>
          </a:p>
        </p:txBody>
      </p:sp>
      <p:sp>
        <p:nvSpPr>
          <p:cNvPr id="5" name="">
            <a:extLst xmlns:a="http://schemas.openxmlformats.org/drawingml/2006/main">
              <a:ext uri="{FF2B5EF4-FFF2-40B4-BE49-F238E27FC236}">
                <a16:creationId xmlns:a16="http://schemas.microsoft.com/office/drawing/2014/main" id="{2430CA63-408F-42B7-AC52-8E3DDBB1CC79}"/>
              </a:ext>
            </a:extLst>
          </p:cNvPr>
          <p:cNvSpPr>
            <a:spLocks xmlns:a="http://schemas.openxmlformats.org/drawingml/2006/main" noGrp="1"/>
          </p:cNvSpPr>
          <p:nvPr/>
        </p:nvSpPr>
        <p:spPr>
          <a:xfrm xmlns:a="http://schemas.openxmlformats.org/drawingml/2006/main">
            <a:off x="400050" y="571500"/>
            <a:ext cx="828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Bản đồ ý nghĩa: nhân dân là trung tâm tham chiếu</a:t>
            </a:r>
          </a:p>
        </p:txBody>
      </p:sp>
      <p:sp>
        <p:nvSpPr>
          <p:cNvPr id="6" name="">
            <a:extLst xmlns:a="http://schemas.openxmlformats.org/drawingml/2006/main">
              <a:ext uri="{FF2B5EF4-FFF2-40B4-BE49-F238E27FC236}">
                <a16:creationId xmlns:a16="http://schemas.microsoft.com/office/drawing/2014/main" id="{3995A52A-030D-4F22-B548-974147D8DF2C}"/>
              </a:ext>
            </a:extLst>
          </p:cNvPr>
          <p:cNvSpPr>
            <a:spLocks xmlns:a="http://schemas.openxmlformats.org/drawingml/2006/main" noGrp="1"/>
          </p:cNvSpPr>
          <p:nvPr/>
        </p:nvSpPr>
        <p:spPr>
          <a:xfrm xmlns:a="http://schemas.openxmlformats.org/drawingml/2006/main">
            <a:off x="400050" y="114300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58D"/>
                </a:solidFill>
                <a:latin typeface="Roboto"/>
                <a:ea typeface="Roboto"/>
                <a:cs typeface="Roboto"/>
              </a:defRPr>
            </a:pPr>
            <a:r>
              <a:rPr sz="1125" b="0" i="0">
                <a:solidFill>
                  <a:srgbClr val="68758D"/>
                </a:solidFill>
                <a:latin typeface="Roboto"/>
                <a:ea typeface="Roboto"/>
                <a:cs typeface="Roboto"/>
              </a:rPr>
              <a:t>Đường nối biểu thị quan hệ gắn bó do nhóm tổng hợp — không phải quan hệ nhân quả tự động.</a:t>
            </a:r>
          </a:p>
        </p:txBody>
      </p:sp>
      <p:sp>
        <p:nvSpPr>
          <p:cNvPr id="7" name="">
            <a:extLst xmlns:a="http://schemas.openxmlformats.org/drawingml/2006/main">
              <a:ext uri="{FF2B5EF4-FFF2-40B4-BE49-F238E27FC236}">
                <a16:creationId xmlns:a16="http://schemas.microsoft.com/office/drawing/2014/main" id="{BD274F65-1E5C-4F2D-9061-5A40C59405FE}"/>
              </a:ext>
            </a:extLst>
          </p:cNvPr>
          <p:cNvSpPr>
            <a:spLocks xmlns:a="http://schemas.openxmlformats.org/drawingml/2006/main" noGrp="1"/>
          </p:cNvSpPr>
          <p:nvPr/>
        </p:nvSpPr>
        <p:spPr>
          <a:xfrm xmlns:a="http://schemas.openxmlformats.org/drawingml/2006/main">
            <a:off x="3219450" y="2933700"/>
            <a:ext cx="1752600" cy="15240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8" name="">
            <a:extLst xmlns:a="http://schemas.openxmlformats.org/drawingml/2006/main">
              <a:ext uri="{FF2B5EF4-FFF2-40B4-BE49-F238E27FC236}">
                <a16:creationId xmlns:a16="http://schemas.microsoft.com/office/drawing/2014/main" id="{2B409D22-CA55-4893-AE6E-7CFA27FB3C79}"/>
              </a:ext>
            </a:extLst>
          </p:cNvPr>
          <p:cNvSpPr>
            <a:spLocks xmlns:a="http://schemas.openxmlformats.org/drawingml/2006/main" noGrp="1"/>
          </p:cNvSpPr>
          <p:nvPr/>
        </p:nvSpPr>
        <p:spPr>
          <a:xfrm xmlns:a="http://schemas.openxmlformats.org/drawingml/2006/main">
            <a:off x="7105650" y="2933700"/>
            <a:ext cx="1771650" cy="15240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9" name="">
            <a:extLst xmlns:a="http://schemas.openxmlformats.org/drawingml/2006/main">
              <a:ext uri="{FF2B5EF4-FFF2-40B4-BE49-F238E27FC236}">
                <a16:creationId xmlns:a16="http://schemas.microsoft.com/office/drawing/2014/main" id="{945AA425-0698-4AF4-99A2-59F9D9A9D010}"/>
              </a:ext>
            </a:extLst>
          </p:cNvPr>
          <p:cNvSpPr>
            <a:spLocks xmlns:a="http://schemas.openxmlformats.org/drawingml/2006/main" noGrp="1"/>
          </p:cNvSpPr>
          <p:nvPr/>
        </p:nvSpPr>
        <p:spPr>
          <a:xfrm xmlns:a="http://schemas.openxmlformats.org/drawingml/2006/main">
            <a:off x="6076950" y="3695700"/>
            <a:ext cx="0" cy="125730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10" name="">
            <a:extLst xmlns:a="http://schemas.openxmlformats.org/drawingml/2006/main">
              <a:ext uri="{FF2B5EF4-FFF2-40B4-BE49-F238E27FC236}">
                <a16:creationId xmlns:a16="http://schemas.microsoft.com/office/drawing/2014/main" id="{131FF1E7-C941-477E-AB10-08E0AF875502}"/>
              </a:ext>
            </a:extLst>
          </p:cNvPr>
          <p:cNvSpPr>
            <a:spLocks xmlns:a="http://schemas.openxmlformats.org/drawingml/2006/main" noGrp="1"/>
          </p:cNvSpPr>
          <p:nvPr/>
        </p:nvSpPr>
        <p:spPr>
          <a:xfrm xmlns:a="http://schemas.openxmlformats.org/drawingml/2006/main">
            <a:off x="4324350" y="5219700"/>
            <a:ext cx="628650" cy="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11" name="">
            <a:extLst xmlns:a="http://schemas.openxmlformats.org/drawingml/2006/main">
              <a:ext uri="{FF2B5EF4-FFF2-40B4-BE49-F238E27FC236}">
                <a16:creationId xmlns:a16="http://schemas.microsoft.com/office/drawing/2014/main" id="{E4DB6062-8D49-4E1B-952F-DA5450FA1401}"/>
              </a:ext>
            </a:extLst>
          </p:cNvPr>
          <p:cNvSpPr>
            <a:spLocks xmlns:a="http://schemas.openxmlformats.org/drawingml/2006/main" noGrp="1"/>
          </p:cNvSpPr>
          <p:nvPr/>
        </p:nvSpPr>
        <p:spPr>
          <a:xfrm xmlns:a="http://schemas.openxmlformats.org/drawingml/2006/main">
            <a:off x="7200900" y="5219700"/>
            <a:ext cx="609600" cy="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12" name="">
            <a:extLst xmlns:a="http://schemas.openxmlformats.org/drawingml/2006/main">
              <a:ext uri="{FF2B5EF4-FFF2-40B4-BE49-F238E27FC236}">
                <a16:creationId xmlns:a16="http://schemas.microsoft.com/office/drawing/2014/main" id="{E58A7B52-01B6-4D5D-84D9-30AE2DC05F9A}"/>
              </a:ext>
            </a:extLst>
          </p:cNvPr>
          <p:cNvSpPr>
            <a:spLocks xmlns:a="http://schemas.openxmlformats.org/drawingml/2006/main" noGrp="1"/>
          </p:cNvSpPr>
          <p:nvPr/>
        </p:nvSpPr>
        <p:spPr>
          <a:xfrm xmlns:a="http://schemas.openxmlformats.org/drawingml/2006/main">
            <a:off x="4953000" y="2266950"/>
            <a:ext cx="2247900" cy="2247900"/>
          </a:xfrm>
          <a:prstGeom xmlns:a="http://schemas.openxmlformats.org/drawingml/2006/main" prst="ellipse">
            <a:avLst/>
          </a:prstGeom>
          <a:solidFill xmlns:a="http://schemas.openxmlformats.org/drawingml/2006/main">
            <a:srgbClr val="16213A"/>
          </a:solidFill>
          <a:ln xmlns:a="http://schemas.openxmlformats.org/drawingml/2006/main" w="0">
            <a:solidFill>
              <a:srgbClr val="16213A"/>
            </a:solidFill>
            <a:prstDash val="solid"/>
          </a:ln>
        </p:spPr>
      </p:sp>
      <p:sp>
        <p:nvSpPr>
          <p:cNvPr id="13" name="">
            <a:extLst xmlns:a="http://schemas.openxmlformats.org/drawingml/2006/main">
              <a:ext uri="{FF2B5EF4-FFF2-40B4-BE49-F238E27FC236}">
                <a16:creationId xmlns:a16="http://schemas.microsoft.com/office/drawing/2014/main" id="{4948623F-5EDD-4D78-9E50-1859BF7ADCE8}"/>
              </a:ext>
            </a:extLst>
          </p:cNvPr>
          <p:cNvSpPr>
            <a:spLocks xmlns:a="http://schemas.openxmlformats.org/drawingml/2006/main" noGrp="1"/>
          </p:cNvSpPr>
          <p:nvPr/>
        </p:nvSpPr>
        <p:spPr>
          <a:xfrm xmlns:a="http://schemas.openxmlformats.org/drawingml/2006/main">
            <a:off x="5219700" y="3009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21"/>
          </a:bodyPr>
          <a:lstStyle xmlns:a="http://schemas.openxmlformats.org/drawingml/2006/main"/>
          <a:p xmlns:a="http://schemas.openxmlformats.org/drawingml/2006/main">
            <a:pPr algn="ctr">
              <a:lnSpc>
                <a:spcPct val="108000"/>
              </a:lnSpc>
              <a:buNone/>
              <a:defRPr sz="1800" b="1" i="0">
                <a:solidFill>
                  <a:srgbClr val="FFFFFF"/>
                </a:solidFill>
                <a:latin typeface="Roboto"/>
                <a:ea typeface="Roboto"/>
                <a:cs typeface="Roboto"/>
              </a:defRPr>
            </a:pPr>
            <a:r>
              <a:rPr sz="1800" b="1" i="0">
                <a:solidFill>
                  <a:srgbClr val="FFFFFF"/>
                </a:solidFill>
                <a:latin typeface="Roboto"/>
                <a:ea typeface="Roboto"/>
                <a:cs typeface="Roboto"/>
              </a:rPr>
              <a:t>NHÂN DÂN</a:t>
            </a:r>
          </a:p>
        </p:txBody>
      </p:sp>
      <p:sp>
        <p:nvSpPr>
          <p:cNvPr id="14" name="">
            <a:extLst xmlns:a="http://schemas.openxmlformats.org/drawingml/2006/main">
              <a:ext uri="{FF2B5EF4-FFF2-40B4-BE49-F238E27FC236}">
                <a16:creationId xmlns:a16="http://schemas.microsoft.com/office/drawing/2014/main" id="{9D4C3E04-BD72-440D-B676-FD2D1820BBA3}"/>
              </a:ext>
            </a:extLst>
          </p:cNvPr>
          <p:cNvSpPr>
            <a:spLocks xmlns:a="http://schemas.openxmlformats.org/drawingml/2006/main" noGrp="1"/>
          </p:cNvSpPr>
          <p:nvPr/>
        </p:nvSpPr>
        <p:spPr>
          <a:xfrm xmlns:a="http://schemas.openxmlformats.org/drawingml/2006/main">
            <a:off x="5219700" y="33528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DCE6F5"/>
                </a:solidFill>
                <a:latin typeface="Roboto"/>
                <a:ea typeface="Roboto"/>
                <a:cs typeface="Roboto"/>
              </a:defRPr>
            </a:pPr>
            <a:r>
              <a:rPr sz="975" b="0" i="0">
                <a:solidFill>
                  <a:srgbClr val="DCE6F5"/>
                </a:solidFill>
                <a:latin typeface="Roboto"/>
                <a:ea typeface="Roboto"/>
                <a:cs typeface="Roboto"/>
              </a:rPr>
              <a:t>trung tâm tham chiếu</a:t>
            </a:r>
          </a:p>
        </p:txBody>
      </p:sp>
      <p:sp>
        <p:nvSpPr>
          <p:cNvPr id="15" name="">
            <a:extLst xmlns:a="http://schemas.openxmlformats.org/drawingml/2006/main">
              <a:ext uri="{FF2B5EF4-FFF2-40B4-BE49-F238E27FC236}">
                <a16:creationId xmlns:a16="http://schemas.microsoft.com/office/drawing/2014/main" id="{AD8F3533-9D33-41BB-9AF9-A9480F0C8F13}"/>
              </a:ext>
            </a:extLst>
          </p:cNvPr>
          <p:cNvSpPr>
            <a:spLocks xmlns:a="http://schemas.openxmlformats.org/drawingml/2006/main" noGrp="1"/>
          </p:cNvSpPr>
          <p:nvPr/>
        </p:nvSpPr>
        <p:spPr>
          <a:xfrm xmlns:a="http://schemas.openxmlformats.org/drawingml/2006/main">
            <a:off x="1638300" y="2362200"/>
            <a:ext cx="1581150" cy="1581150"/>
          </a:xfrm>
          <a:prstGeom xmlns:a="http://schemas.openxmlformats.org/drawingml/2006/main" prst="ellipse">
            <a:avLst/>
          </a:prstGeom>
          <a:solidFill xmlns:a="http://schemas.openxmlformats.org/drawingml/2006/main">
            <a:srgbClr val="EAF1FB"/>
          </a:solidFill>
          <a:ln xmlns:a="http://schemas.openxmlformats.org/drawingml/2006/main" w="19050">
            <a:solidFill>
              <a:srgbClr val="2F5FB5"/>
            </a:solidFill>
            <a:prstDash val="solid"/>
          </a:ln>
        </p:spPr>
      </p:sp>
      <p:sp>
        <p:nvSpPr>
          <p:cNvPr id="16" name="">
            <a:extLst xmlns:a="http://schemas.openxmlformats.org/drawingml/2006/main">
              <a:ext uri="{FF2B5EF4-FFF2-40B4-BE49-F238E27FC236}">
                <a16:creationId xmlns:a16="http://schemas.microsoft.com/office/drawing/2014/main" id="{276E9F71-7A93-4F7F-9532-524B02B7165F}"/>
              </a:ext>
            </a:extLst>
          </p:cNvPr>
          <p:cNvSpPr>
            <a:spLocks xmlns:a="http://schemas.openxmlformats.org/drawingml/2006/main" noGrp="1"/>
          </p:cNvSpPr>
          <p:nvPr/>
        </p:nvSpPr>
        <p:spPr>
          <a:xfrm xmlns:a="http://schemas.openxmlformats.org/drawingml/2006/main">
            <a:off x="1809750" y="2886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A8F"/>
                </a:solidFill>
                <a:latin typeface="Roboto"/>
                <a:ea typeface="Roboto"/>
                <a:cs typeface="Roboto"/>
              </a:defRPr>
            </a:pPr>
            <a:r>
              <a:rPr sz="1350" b="1" i="0">
                <a:solidFill>
                  <a:srgbClr val="234A8F"/>
                </a:solidFill>
                <a:latin typeface="Roboto"/>
                <a:ea typeface="Roboto"/>
                <a:cs typeface="Roboto"/>
              </a:rPr>
              <a:t>ĐỘC LẬP</a:t>
            </a:r>
          </a:p>
        </p:txBody>
      </p:sp>
      <p:sp>
        <p:nvSpPr>
          <p:cNvPr id="17" name="">
            <a:extLst xmlns:a="http://schemas.openxmlformats.org/drawingml/2006/main">
              <a:ext uri="{FF2B5EF4-FFF2-40B4-BE49-F238E27FC236}">
                <a16:creationId xmlns:a16="http://schemas.microsoft.com/office/drawing/2014/main" id="{5F3108E0-3F3F-445C-B84E-DCEB8E032AC6}"/>
              </a:ext>
            </a:extLst>
          </p:cNvPr>
          <p:cNvSpPr>
            <a:spLocks xmlns:a="http://schemas.openxmlformats.org/drawingml/2006/main" noGrp="1"/>
          </p:cNvSpPr>
          <p:nvPr/>
        </p:nvSpPr>
        <p:spPr>
          <a:xfrm xmlns:a="http://schemas.openxmlformats.org/drawingml/2006/main">
            <a:off x="1790700" y="32099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38" b="0" i="0">
                <a:solidFill>
                  <a:srgbClr val="234A8F"/>
                </a:solidFill>
                <a:latin typeface="Roboto"/>
                <a:ea typeface="Roboto"/>
                <a:cs typeface="Roboto"/>
              </a:defRPr>
            </a:pPr>
            <a:r>
              <a:rPr sz="938" b="0" i="0">
                <a:solidFill>
                  <a:srgbClr val="234A8F"/>
                </a:solidFill>
                <a:latin typeface="Roboto"/>
                <a:ea typeface="Roboto"/>
                <a:cs typeface="Roboto"/>
              </a:rPr>
              <a:t>điều kiện chính trị</a:t>
            </a:r>
          </a:p>
        </p:txBody>
      </p:sp>
      <p:sp>
        <p:nvSpPr>
          <p:cNvPr id="18" name="">
            <a:extLst xmlns:a="http://schemas.openxmlformats.org/drawingml/2006/main">
              <a:ext uri="{FF2B5EF4-FFF2-40B4-BE49-F238E27FC236}">
                <a16:creationId xmlns:a16="http://schemas.microsoft.com/office/drawing/2014/main" id="{CFEF0E52-977F-4083-94A8-D185A11E0D03}"/>
              </a:ext>
            </a:extLst>
          </p:cNvPr>
          <p:cNvSpPr>
            <a:spLocks xmlns:a="http://schemas.openxmlformats.org/drawingml/2006/main" noGrp="1"/>
          </p:cNvSpPr>
          <p:nvPr/>
        </p:nvSpPr>
        <p:spPr>
          <a:xfrm xmlns:a="http://schemas.openxmlformats.org/drawingml/2006/main">
            <a:off x="8877300" y="2362200"/>
            <a:ext cx="1581150" cy="1581150"/>
          </a:xfrm>
          <a:prstGeom xmlns:a="http://schemas.openxmlformats.org/drawingml/2006/main" prst="ellipse">
            <a:avLst/>
          </a:prstGeom>
          <a:solidFill xmlns:a="http://schemas.openxmlformats.org/drawingml/2006/main">
            <a:srgbClr val="FBF4E4"/>
          </a:solidFill>
          <a:ln xmlns:a="http://schemas.openxmlformats.org/drawingml/2006/main" w="19050">
            <a:solidFill>
              <a:srgbClr val="C99428"/>
            </a:solidFill>
            <a:prstDash val="solid"/>
          </a:ln>
        </p:spPr>
      </p:sp>
      <p:sp>
        <p:nvSpPr>
          <p:cNvPr id="19" name="">
            <a:extLst xmlns:a="http://schemas.openxmlformats.org/drawingml/2006/main">
              <a:ext uri="{FF2B5EF4-FFF2-40B4-BE49-F238E27FC236}">
                <a16:creationId xmlns:a16="http://schemas.microsoft.com/office/drawing/2014/main" id="{F624FEFC-315F-4095-B4B0-06C73AD0A3A4}"/>
              </a:ext>
            </a:extLst>
          </p:cNvPr>
          <p:cNvSpPr>
            <a:spLocks xmlns:a="http://schemas.openxmlformats.org/drawingml/2006/main" noGrp="1"/>
          </p:cNvSpPr>
          <p:nvPr/>
        </p:nvSpPr>
        <p:spPr>
          <a:xfrm xmlns:a="http://schemas.openxmlformats.org/drawingml/2006/main">
            <a:off x="9048750" y="2886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8A651F"/>
                </a:solidFill>
                <a:latin typeface="Roboto"/>
                <a:ea typeface="Roboto"/>
                <a:cs typeface="Roboto"/>
              </a:defRPr>
            </a:pPr>
            <a:r>
              <a:rPr sz="1350" b="1" i="0">
                <a:solidFill>
                  <a:srgbClr val="8A651F"/>
                </a:solidFill>
                <a:latin typeface="Roboto"/>
                <a:ea typeface="Roboto"/>
                <a:cs typeface="Roboto"/>
              </a:rPr>
              <a:t>TỰ DO</a:t>
            </a:r>
          </a:p>
        </p:txBody>
      </p:sp>
      <p:sp>
        <p:nvSpPr>
          <p:cNvPr id="20" name="">
            <a:extLst xmlns:a="http://schemas.openxmlformats.org/drawingml/2006/main">
              <a:ext uri="{FF2B5EF4-FFF2-40B4-BE49-F238E27FC236}">
                <a16:creationId xmlns:a16="http://schemas.microsoft.com/office/drawing/2014/main" id="{D01BDB67-F252-4827-804E-C6531B2E920F}"/>
              </a:ext>
            </a:extLst>
          </p:cNvPr>
          <p:cNvSpPr>
            <a:spLocks xmlns:a="http://schemas.openxmlformats.org/drawingml/2006/main" noGrp="1"/>
          </p:cNvSpPr>
          <p:nvPr/>
        </p:nvSpPr>
        <p:spPr>
          <a:xfrm xmlns:a="http://schemas.openxmlformats.org/drawingml/2006/main">
            <a:off x="9029700" y="32099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38" b="0" i="0">
                <a:solidFill>
                  <a:srgbClr val="8A651F"/>
                </a:solidFill>
                <a:latin typeface="Roboto"/>
                <a:ea typeface="Roboto"/>
                <a:cs typeface="Roboto"/>
              </a:defRPr>
            </a:pPr>
            <a:r>
              <a:rPr sz="938" b="0" i="0">
                <a:solidFill>
                  <a:srgbClr val="8A651F"/>
                </a:solidFill>
                <a:latin typeface="Roboto"/>
                <a:ea typeface="Roboto"/>
                <a:cs typeface="Roboto"/>
              </a:rPr>
              <a:t>giá trị con người</a:t>
            </a:r>
          </a:p>
        </p:txBody>
      </p:sp>
      <p:sp>
        <p:nvSpPr>
          <p:cNvPr id="21" name="">
            <a:extLst xmlns:a="http://schemas.openxmlformats.org/drawingml/2006/main">
              <a:ext uri="{FF2B5EF4-FFF2-40B4-BE49-F238E27FC236}">
                <a16:creationId xmlns:a16="http://schemas.microsoft.com/office/drawing/2014/main" id="{2B5B78D6-897D-4F7A-B791-1C35C4CAA5A3}"/>
              </a:ext>
            </a:extLst>
          </p:cNvPr>
          <p:cNvSpPr>
            <a:spLocks xmlns:a="http://schemas.openxmlformats.org/drawingml/2006/main" noGrp="1"/>
          </p:cNvSpPr>
          <p:nvPr/>
        </p:nvSpPr>
        <p:spPr>
          <a:xfrm xmlns:a="http://schemas.openxmlformats.org/drawingml/2006/main">
            <a:off x="5191125" y="4953000"/>
            <a:ext cx="1771650" cy="1771650"/>
          </a:xfrm>
          <a:prstGeom xmlns:a="http://schemas.openxmlformats.org/drawingml/2006/main" prst="ellipse">
            <a:avLst/>
          </a:prstGeom>
          <a:solidFill xmlns:a="http://schemas.openxmlformats.org/drawingml/2006/main">
            <a:srgbClr val="F8ECEB"/>
          </a:solidFill>
          <a:ln xmlns:a="http://schemas.openxmlformats.org/drawingml/2006/main" w="19050">
            <a:solidFill>
              <a:srgbClr val="A64242"/>
            </a:solidFill>
            <a:prstDash val="solid"/>
          </a:ln>
        </p:spPr>
      </p:sp>
      <p:sp>
        <p:nvSpPr>
          <p:cNvPr id="22" name="">
            <a:extLst xmlns:a="http://schemas.openxmlformats.org/drawingml/2006/main">
              <a:ext uri="{FF2B5EF4-FFF2-40B4-BE49-F238E27FC236}">
                <a16:creationId xmlns:a16="http://schemas.microsoft.com/office/drawing/2014/main" id="{1D2C761E-CBA3-46B4-AF19-F5B789BFCEFD}"/>
              </a:ext>
            </a:extLst>
          </p:cNvPr>
          <p:cNvSpPr>
            <a:spLocks xmlns:a="http://schemas.openxmlformats.org/drawingml/2006/main" noGrp="1"/>
          </p:cNvSpPr>
          <p:nvPr/>
        </p:nvSpPr>
        <p:spPr>
          <a:xfrm xmlns:a="http://schemas.openxmlformats.org/drawingml/2006/main">
            <a:off x="5353050" y="550545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A64242"/>
                </a:solidFill>
                <a:latin typeface="Roboto"/>
                <a:ea typeface="Roboto"/>
                <a:cs typeface="Roboto"/>
              </a:defRPr>
            </a:pPr>
            <a:r>
              <a:rPr sz="1275" b="1" i="0">
                <a:solidFill>
                  <a:srgbClr val="A64242"/>
                </a:solidFill>
                <a:latin typeface="Roboto"/>
                <a:ea typeface="Roboto"/>
                <a:cs typeface="Roboto"/>
              </a:rPr>
              <a:t>HẠNH PHÚC*</a:t>
            </a:r>
          </a:p>
        </p:txBody>
      </p:sp>
      <p:sp>
        <p:nvSpPr>
          <p:cNvPr id="23" name="">
            <a:extLst xmlns:a="http://schemas.openxmlformats.org/drawingml/2006/main">
              <a:ext uri="{FF2B5EF4-FFF2-40B4-BE49-F238E27FC236}">
                <a16:creationId xmlns:a16="http://schemas.microsoft.com/office/drawing/2014/main" id="{42647B3B-50E2-41C8-BFC7-080C2F687C9A}"/>
              </a:ext>
            </a:extLst>
          </p:cNvPr>
          <p:cNvSpPr>
            <a:spLocks xmlns:a="http://schemas.openxmlformats.org/drawingml/2006/main" noGrp="1"/>
          </p:cNvSpPr>
          <p:nvPr/>
        </p:nvSpPr>
        <p:spPr>
          <a:xfrm xmlns:a="http://schemas.openxmlformats.org/drawingml/2006/main">
            <a:off x="5362575" y="5829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863" b="0" i="0">
                <a:solidFill>
                  <a:srgbClr val="A64242"/>
                </a:solidFill>
                <a:latin typeface="Roboto"/>
                <a:ea typeface="Roboto"/>
                <a:cs typeface="Roboto"/>
              </a:defRPr>
            </a:pPr>
            <a:r>
              <a:rPr sz="863" b="0" i="0">
                <a:solidFill>
                  <a:srgbClr val="A64242"/>
                </a:solidFill>
                <a:latin typeface="Roboto"/>
                <a:ea typeface="Roboto"/>
                <a:cs typeface="Roboto"/>
              </a:rPr>
              <a:t>một phương diện đời sống</a:t>
            </a:r>
          </a:p>
        </p:txBody>
      </p:sp>
      <p:sp>
        <p:nvSpPr>
          <p:cNvPr id="24" name="">
            <a:extLst xmlns:a="http://schemas.openxmlformats.org/drawingml/2006/main">
              <a:ext uri="{FF2B5EF4-FFF2-40B4-BE49-F238E27FC236}">
                <a16:creationId xmlns:a16="http://schemas.microsoft.com/office/drawing/2014/main" id="{A93CFD2B-DC67-423E-85A7-4C8217F17BC1}"/>
              </a:ext>
            </a:extLst>
          </p:cNvPr>
          <p:cNvSpPr>
            <a:spLocks xmlns:a="http://schemas.openxmlformats.org/drawingml/2006/main" noGrp="1"/>
          </p:cNvSpPr>
          <p:nvPr/>
        </p:nvSpPr>
        <p:spPr>
          <a:xfrm xmlns:a="http://schemas.openxmlformats.org/drawingml/2006/main">
            <a:off x="7334250" y="50673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38" b="0" i="1">
                <a:solidFill>
                  <a:srgbClr val="68758D"/>
                </a:solidFill>
                <a:latin typeface="Roboto"/>
                <a:ea typeface="Roboto"/>
                <a:cs typeface="Roboto"/>
              </a:defRPr>
            </a:pPr>
            <a:r>
              <a:rPr sz="938" b="0" i="1">
                <a:solidFill>
                  <a:srgbClr val="68758D"/>
                </a:solidFill>
                <a:latin typeface="Roboto"/>
                <a:ea typeface="Roboto"/>
                <a:cs typeface="Roboto"/>
              </a:rPr>
              <a:t>* Ăn · mặc · ở · học hành = một phương diện cụ thể, không phải toàn bộ định nghĩa.</a:t>
            </a:r>
          </a:p>
        </p:txBody>
      </p:sp>
      <p:sp>
        <p:nvSpPr>
          <p:cNvPr id="25" name="">
            <a:extLst xmlns:a="http://schemas.openxmlformats.org/drawingml/2006/main">
              <a:ext uri="{FF2B5EF4-FFF2-40B4-BE49-F238E27FC236}">
                <a16:creationId xmlns:a16="http://schemas.microsoft.com/office/drawing/2014/main" id="{59B76073-4A9E-4E71-BED5-A76DEE73D150}"/>
              </a:ext>
            </a:extLst>
          </p:cNvPr>
          <p:cNvSpPr>
            <a:spLocks xmlns:a="http://schemas.openxmlformats.org/drawingml/2006/main" noGrp="1"/>
          </p:cNvSpPr>
          <p:nvPr/>
        </p:nvSpPr>
        <p:spPr>
          <a:xfrm xmlns:a="http://schemas.openxmlformats.org/drawingml/2006/main">
            <a:off x="762000" y="5410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Cách đọc</a:t>
            </a:r>
          </a:p>
        </p:txBody>
      </p:sp>
      <p:sp>
        <p:nvSpPr>
          <p:cNvPr id="26" name="">
            <a:extLst xmlns:a="http://schemas.openxmlformats.org/drawingml/2006/main">
              <a:ext uri="{FF2B5EF4-FFF2-40B4-BE49-F238E27FC236}">
                <a16:creationId xmlns:a16="http://schemas.microsoft.com/office/drawing/2014/main" id="{FDC66480-AE9A-4294-B4F6-61F3702D5C43}"/>
              </a:ext>
            </a:extLst>
          </p:cNvPr>
          <p:cNvSpPr>
            <a:spLocks xmlns:a="http://schemas.openxmlformats.org/drawingml/2006/main" noGrp="1"/>
          </p:cNvSpPr>
          <p:nvPr/>
        </p:nvSpPr>
        <p:spPr>
          <a:xfrm xmlns:a="http://schemas.openxmlformats.org/drawingml/2006/main">
            <a:off x="762000" y="5619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16213A"/>
                </a:solidFill>
                <a:latin typeface="Roboto"/>
                <a:ea typeface="Roboto"/>
                <a:cs typeface="Roboto"/>
              </a:defRPr>
            </a:pPr>
            <a:r>
              <a:rPr sz="1050" b="0" i="0">
                <a:solidFill>
                  <a:srgbClr val="16213A"/>
                </a:solidFill>
                <a:latin typeface="Roboto"/>
                <a:ea typeface="Roboto"/>
                <a:cs typeface="Roboto"/>
              </a:rPr>
              <a:t>Độc lập / Tự do / Hạnh phúc được giữ riêng để tránh đồng nhất khái niệm.</a:t>
            </a:r>
          </a:p>
        </p:txBody>
      </p:sp>
      <p:sp>
        <p:nvSpPr>
          <p:cNvPr id="27" name="">
            <a:extLst xmlns:a="http://schemas.openxmlformats.org/drawingml/2006/main">
              <a:ext uri="{FF2B5EF4-FFF2-40B4-BE49-F238E27FC236}">
                <a16:creationId xmlns:a16="http://schemas.microsoft.com/office/drawing/2014/main" id="{0FB19A9C-C5B7-412D-ACE5-EBC904AE2734}"/>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Giáo trình TTHCM 2019, tr.41, 43, 44; Hồ Chí Minh Toàn tập, T4, tr.64, 175. Sơ đồ là tổng hợp của nhóm.</a:t>
            </a:r>
          </a:p>
        </p:txBody>
      </p:sp>
    </p:spTree>
    <p:extLst>
      <p:ext uri="{BB962C8B-B14F-4D97-AF65-F5344CB8AC3E}">
        <p14:creationId xmlns:p14="http://schemas.microsoft.com/office/powerpoint/2010/main" val="1784023586"/>
      </p:ext>
    </p:extLst>
  </p:cSld>
</p:sld>
</file>

<file path=ppt/slides/slide9.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EB0A69B-06DE-41B9-B697-43994658A21F}"/>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E72E5F3F-F950-4A62-91F4-14B0A8B31F59}"/>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PRODUCT / CREATIVITY</a:t>
            </a:r>
          </a:p>
        </p:txBody>
      </p:sp>
      <p:sp>
        <p:nvSpPr>
          <p:cNvPr id="3" name="">
            <a:extLst xmlns:a="http://schemas.openxmlformats.org/drawingml/2006/main">
              <a:ext uri="{FF2B5EF4-FFF2-40B4-BE49-F238E27FC236}">
                <a16:creationId xmlns:a16="http://schemas.microsoft.com/office/drawing/2014/main" id="{D536EB3D-F57C-416F-8489-DB23A806046C}"/>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09</a:t>
            </a:r>
          </a:p>
        </p:txBody>
      </p:sp>
      <p:sp>
        <p:nvSpPr>
          <p:cNvPr id="4" name="">
            <a:extLst xmlns:a="http://schemas.openxmlformats.org/drawingml/2006/main">
              <a:ext uri="{FF2B5EF4-FFF2-40B4-BE49-F238E27FC236}">
                <a16:creationId xmlns:a16="http://schemas.microsoft.com/office/drawing/2014/main" id="{126F31EA-F611-4E17-9A41-53DA395E2203}"/>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1.3 • SẢN PHẨM SÁNG TẠO</a:t>
            </a:r>
          </a:p>
        </p:txBody>
      </p:sp>
      <p:sp>
        <p:nvSpPr>
          <p:cNvPr id="5" name="">
            <a:extLst xmlns:a="http://schemas.openxmlformats.org/drawingml/2006/main">
              <a:ext uri="{FF2B5EF4-FFF2-40B4-BE49-F238E27FC236}">
                <a16:creationId xmlns:a16="http://schemas.microsoft.com/office/drawing/2014/main" id="{8271286D-5D9B-4B99-8908-DE9255EED124}"/>
              </a:ext>
            </a:extLst>
          </p:cNvPr>
          <p:cNvSpPr>
            <a:spLocks xmlns:a="http://schemas.openxmlformats.org/drawingml/2006/main" noGrp="1"/>
          </p:cNvSpPr>
          <p:nvPr/>
        </p:nvSpPr>
        <p:spPr>
          <a:xfrm xmlns:a="http://schemas.openxmlformats.org/drawingml/2006/main">
            <a:off x="400050" y="6477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Web không chỉ kể lại lý thuyết — web cho người xem tự kiểm tra đường nối</a:t>
            </a:r>
          </a:p>
        </p:txBody>
      </p:sp>
      <p:sp>
        <p:nvSpPr>
          <p:cNvPr id="6" name="">
            <a:extLst xmlns:a="http://schemas.openxmlformats.org/drawingml/2006/main">
              <a:ext uri="{FF2B5EF4-FFF2-40B4-BE49-F238E27FC236}">
                <a16:creationId xmlns:a16="http://schemas.microsoft.com/office/drawing/2014/main" id="{853DBF00-79BA-4C61-8132-9C9AE2DB047B}"/>
              </a:ext>
            </a:extLst>
          </p:cNvPr>
          <p:cNvSpPr>
            <a:spLocks xmlns:a="http://schemas.openxmlformats.org/drawingml/2006/main" noGrp="1"/>
          </p:cNvSpPr>
          <p:nvPr/>
        </p:nvSpPr>
        <p:spPr>
          <a:xfrm xmlns:a="http://schemas.openxmlformats.org/drawingml/2006/main">
            <a:off x="400050" y="12573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Meaning Map biến một bài nói tuyến tính thành một trải nghiệm có lựa chọn, bằng chứng và phản biện.</a:t>
            </a:r>
          </a:p>
        </p:txBody>
      </p:sp>
      <p:sp>
        <p:nvSpPr>
          <p:cNvPr id="7" name="">
            <a:extLst xmlns:a="http://schemas.openxmlformats.org/drawingml/2006/main">
              <a:ext uri="{FF2B5EF4-FFF2-40B4-BE49-F238E27FC236}">
                <a16:creationId xmlns:a16="http://schemas.microsoft.com/office/drawing/2014/main" id="{80B0BB03-E055-43C7-9E72-37FF9A220252}"/>
              </a:ext>
            </a:extLst>
          </p:cNvPr>
          <p:cNvSpPr>
            <a:spLocks xmlns:a="http://schemas.openxmlformats.org/drawingml/2006/main" noGrp="1"/>
          </p:cNvSpPr>
          <p:nvPr/>
        </p:nvSpPr>
        <p:spPr>
          <a:xfrm xmlns:a="http://schemas.openxmlformats.org/drawingml/2006/main">
            <a:off x="400050" y="2095500"/>
            <a:ext cx="3524250" cy="2781300"/>
          </a:xfrm>
          <a:prstGeom xmlns:a="http://schemas.openxmlformats.org/drawingml/2006/main" prst="roundRect">
            <a:avLst>
              <a:gd name="adj" fmla="val 4795"/>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9F972593-511A-451C-8249-D13032F318DA}"/>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EBBBFB9A-3589-4AFF-B074-96B5EE5910C6}"/>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01 / EXPLORE</a:t>
            </a:r>
          </a:p>
        </p:txBody>
      </p:sp>
      <p:sp>
        <p:nvSpPr>
          <p:cNvPr id="10" name="">
            <a:extLst xmlns:a="http://schemas.openxmlformats.org/drawingml/2006/main">
              <a:ext uri="{FF2B5EF4-FFF2-40B4-BE49-F238E27FC236}">
                <a16:creationId xmlns:a16="http://schemas.microsoft.com/office/drawing/2014/main" id="{EF77FAAA-CD64-47FF-9487-764039C0360D}"/>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Chạm vào một node</a:t>
            </a:r>
          </a:p>
        </p:txBody>
      </p:sp>
      <p:sp>
        <p:nvSpPr>
          <p:cNvPr id="11" name="">
            <a:extLst xmlns:a="http://schemas.openxmlformats.org/drawingml/2006/main">
              <a:ext uri="{FF2B5EF4-FFF2-40B4-BE49-F238E27FC236}">
                <a16:creationId xmlns:a16="http://schemas.microsoft.com/office/drawing/2014/main" id="{FC7D7C81-77A8-4D97-9327-5E81D64251E6}"/>
              </a:ext>
            </a:extLst>
          </p:cNvPr>
          <p:cNvSpPr>
            <a:spLocks xmlns:a="http://schemas.openxmlformats.org/drawingml/2006/main" noGrp="1"/>
          </p:cNvSpPr>
          <p:nvPr/>
        </p:nvSpPr>
        <p:spPr>
          <a:xfrm xmlns:a="http://schemas.openxmlformats.org/drawingml/2006/main">
            <a:off x="742950" y="289560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Người xem chọn Độc lập, Tự do hoặc Hạnh phúc. Mỗi node mở một lớp giải thích ngắn, không nhồi cả chương vào một màn hình.</a:t>
            </a:r>
          </a:p>
        </p:txBody>
      </p:sp>
      <p:sp>
        <p:nvSpPr>
          <p:cNvPr id="12" name="">
            <a:extLst xmlns:a="http://schemas.openxmlformats.org/drawingml/2006/main">
              <a:ext uri="{FF2B5EF4-FFF2-40B4-BE49-F238E27FC236}">
                <a16:creationId xmlns:a16="http://schemas.microsoft.com/office/drawing/2014/main" id="{E7991FA2-6E3D-4FBA-B928-194CA2082939}"/>
              </a:ext>
            </a:extLst>
          </p:cNvPr>
          <p:cNvSpPr>
            <a:spLocks xmlns:a="http://schemas.openxmlformats.org/drawingml/2006/main" noGrp="1"/>
          </p:cNvSpPr>
          <p:nvPr/>
        </p:nvSpPr>
        <p:spPr>
          <a:xfrm xmlns:a="http://schemas.openxmlformats.org/drawingml/2006/main">
            <a:off x="4333875" y="2095500"/>
            <a:ext cx="3524250" cy="2781300"/>
          </a:xfrm>
          <a:prstGeom xmlns:a="http://schemas.openxmlformats.org/drawingml/2006/main" prst="roundRect">
            <a:avLst>
              <a:gd name="adj" fmla="val 4795"/>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4A7FBFC6-2325-4DD2-8825-F4110D0A89A4}"/>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938A2FBE-CE0D-4702-A060-33A80D2A8B6F}"/>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02 / VERIFY</a:t>
            </a:r>
          </a:p>
        </p:txBody>
      </p:sp>
      <p:sp>
        <p:nvSpPr>
          <p:cNvPr id="15" name="">
            <a:extLst xmlns:a="http://schemas.openxmlformats.org/drawingml/2006/main">
              <a:ext uri="{FF2B5EF4-FFF2-40B4-BE49-F238E27FC236}">
                <a16:creationId xmlns:a16="http://schemas.microsoft.com/office/drawing/2014/main" id="{3EFB4F17-40A4-44CD-84DB-40D353478E90}"/>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Mở evidence</a:t>
            </a:r>
          </a:p>
        </p:txBody>
      </p:sp>
      <p:sp>
        <p:nvSpPr>
          <p:cNvPr id="16" name="">
            <a:extLst xmlns:a="http://schemas.openxmlformats.org/drawingml/2006/main">
              <a:ext uri="{FF2B5EF4-FFF2-40B4-BE49-F238E27FC236}">
                <a16:creationId xmlns:a16="http://schemas.microsoft.com/office/drawing/2014/main" id="{418750F6-C29D-493A-91D6-6F9AD2FF1F1C}"/>
              </a:ext>
            </a:extLst>
          </p:cNvPr>
          <p:cNvSpPr>
            <a:spLocks xmlns:a="http://schemas.openxmlformats.org/drawingml/2006/main" noGrp="1"/>
          </p:cNvSpPr>
          <p:nvPr/>
        </p:nvSpPr>
        <p:spPr>
          <a:xfrm xmlns:a="http://schemas.openxmlformats.org/drawingml/2006/main">
            <a:off x="4676775" y="289560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Mỗi ý chính đi cùng trích dẫn, tập và trang. Người xem phân biệt được câu chữ của nguồn với cách nhóm diễn giải.</a:t>
            </a:r>
          </a:p>
        </p:txBody>
      </p:sp>
      <p:sp>
        <p:nvSpPr>
          <p:cNvPr id="17" name="">
            <a:extLst xmlns:a="http://schemas.openxmlformats.org/drawingml/2006/main">
              <a:ext uri="{FF2B5EF4-FFF2-40B4-BE49-F238E27FC236}">
                <a16:creationId xmlns:a16="http://schemas.microsoft.com/office/drawing/2014/main" id="{544AFF66-BA8C-4B9D-90CE-814A20B58F1D}"/>
              </a:ext>
            </a:extLst>
          </p:cNvPr>
          <p:cNvSpPr>
            <a:spLocks xmlns:a="http://schemas.openxmlformats.org/drawingml/2006/main" noGrp="1"/>
          </p:cNvSpPr>
          <p:nvPr/>
        </p:nvSpPr>
        <p:spPr>
          <a:xfrm xmlns:a="http://schemas.openxmlformats.org/drawingml/2006/main">
            <a:off x="8286750" y="2095500"/>
            <a:ext cx="3524250" cy="2781300"/>
          </a:xfrm>
          <a:prstGeom xmlns:a="http://schemas.openxmlformats.org/drawingml/2006/main" prst="roundRect">
            <a:avLst>
              <a:gd name="adj" fmla="val 4795"/>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446CA1E4-591A-436B-B1BA-99EC470F2681}"/>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BA2E3DD3-160E-416A-9B9E-A61C5D1EF291}"/>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03 / CHALLENGE</a:t>
            </a:r>
          </a:p>
        </p:txBody>
      </p:sp>
      <p:sp>
        <p:nvSpPr>
          <p:cNvPr id="20" name="">
            <a:extLst xmlns:a="http://schemas.openxmlformats.org/drawingml/2006/main">
              <a:ext uri="{FF2B5EF4-FFF2-40B4-BE49-F238E27FC236}">
                <a16:creationId xmlns:a16="http://schemas.microsoft.com/office/drawing/2014/main" id="{1C42A91A-5232-4BC3-B39A-2835D7F381D1}"/>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Bẻ gãy đường nối</a:t>
            </a:r>
          </a:p>
        </p:txBody>
      </p:sp>
      <p:sp>
        <p:nvSpPr>
          <p:cNvPr id="21" name="">
            <a:extLst xmlns:a="http://schemas.openxmlformats.org/drawingml/2006/main">
              <a:ext uri="{FF2B5EF4-FFF2-40B4-BE49-F238E27FC236}">
                <a16:creationId xmlns:a16="http://schemas.microsoft.com/office/drawing/2014/main" id="{2F669BBD-8992-48A2-B6B0-D7CA5A043E3F}"/>
              </a:ext>
            </a:extLst>
          </p:cNvPr>
          <p:cNvSpPr>
            <a:spLocks xmlns:a="http://schemas.openxmlformats.org/drawingml/2006/main" noGrp="1"/>
          </p:cNvSpPr>
          <p:nvPr/>
        </p:nvSpPr>
        <p:spPr>
          <a:xfrm xmlns:a="http://schemas.openxmlformats.org/drawingml/2006/main">
            <a:off x="8629650" y="289560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Người xem trả lời một câu hỏi C–C–C: bối cảnh nào, lý luận nào, mâu thuẫn nào? Nếu không chứng minh được, đường nối phải được xem lại.</a:t>
            </a:r>
          </a:p>
        </p:txBody>
      </p:sp>
      <p:sp>
        <p:nvSpPr>
          <p:cNvPr id="22" name="">
            <a:extLst xmlns:a="http://schemas.openxmlformats.org/drawingml/2006/main">
              <a:ext uri="{FF2B5EF4-FFF2-40B4-BE49-F238E27FC236}">
                <a16:creationId xmlns:a16="http://schemas.microsoft.com/office/drawing/2014/main" id="{EAD208F8-F689-45B2-8439-39EE078409D1}"/>
              </a:ext>
            </a:extLst>
          </p:cNvPr>
          <p:cNvSpPr>
            <a:spLocks xmlns:a="http://schemas.openxmlformats.org/drawingml/2006/main" noGrp="1"/>
          </p:cNvSpPr>
          <p:nvPr/>
        </p:nvSpPr>
        <p:spPr>
          <a:xfrm xmlns:a="http://schemas.openxmlformats.org/drawingml/2006/main">
            <a:off x="40005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Điểm sáng tạo không nằm ở hiệu ứng; nằm ở việc thiết kế để người xem tự xây lại lập luận.</a:t>
            </a:r>
          </a:p>
        </p:txBody>
      </p:sp>
      <p:sp>
        <p:nvSpPr>
          <p:cNvPr id="23" name="">
            <a:extLst xmlns:a="http://schemas.openxmlformats.org/drawingml/2006/main">
              <a:ext uri="{FF2B5EF4-FFF2-40B4-BE49-F238E27FC236}">
                <a16:creationId xmlns:a16="http://schemas.microsoft.com/office/drawing/2014/main" id="{30B768C9-7CF5-43F2-8817-13E1DF033057}"/>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Sản phẩm: Interactive Meaning Map / Visual Essay. Nguồn lý luận được gắn trong từng node và source log của nhóm.</a:t>
            </a:r>
          </a:p>
        </p:txBody>
      </p:sp>
    </p:spTree>
    <p:extLst>
      <p:ext uri="{BB962C8B-B14F-4D97-AF65-F5344CB8AC3E}">
        <p14:creationId xmlns:p14="http://schemas.microsoft.com/office/powerpoint/2010/main" val="1459117092"/>
      </p:ext>
    </p:extLst>
  </p:cSld>
</p:sld>
</file>

<file path=ppt/slides/slide10.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0D89755-F466-4508-8E6C-89C8EC264810}"/>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21A0F78D-A055-444F-B879-F005D316E704}"/>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PRACTICAL LAYER • 1.2</a:t>
            </a:r>
          </a:p>
        </p:txBody>
      </p:sp>
      <p:sp>
        <p:nvSpPr>
          <p:cNvPr id="3" name="">
            <a:extLst xmlns:a="http://schemas.openxmlformats.org/drawingml/2006/main">
              <a:ext uri="{FF2B5EF4-FFF2-40B4-BE49-F238E27FC236}">
                <a16:creationId xmlns:a16="http://schemas.microsoft.com/office/drawing/2014/main" id="{2CBA6C85-7DD9-4D23-8B6F-7A092604DE93}"/>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10</a:t>
            </a:r>
          </a:p>
        </p:txBody>
      </p:sp>
      <p:sp>
        <p:nvSpPr>
          <p:cNvPr id="4" name="">
            <a:extLst xmlns:a="http://schemas.openxmlformats.org/drawingml/2006/main">
              <a:ext uri="{FF2B5EF4-FFF2-40B4-BE49-F238E27FC236}">
                <a16:creationId xmlns:a16="http://schemas.microsoft.com/office/drawing/2014/main" id="{7B332021-9206-4C2B-9A8C-877517C71237}"/>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1.2 • TÍNH THỰC TIỄN</a:t>
            </a:r>
          </a:p>
        </p:txBody>
      </p:sp>
      <p:sp>
        <p:nvSpPr>
          <p:cNvPr id="5" name="">
            <a:extLst xmlns:a="http://schemas.openxmlformats.org/drawingml/2006/main">
              <a:ext uri="{FF2B5EF4-FFF2-40B4-BE49-F238E27FC236}">
                <a16:creationId xmlns:a16="http://schemas.microsoft.com/office/drawing/2014/main" id="{CC3442C2-C58C-43FF-9576-C0286EA0A5CC}"/>
              </a:ext>
            </a:extLst>
          </p:cNvPr>
          <p:cNvSpPr>
            <a:spLocks xmlns:a="http://schemas.openxmlformats.org/drawingml/2006/main" noGrp="1"/>
          </p:cNvSpPr>
          <p:nvPr/>
        </p:nvSpPr>
        <p:spPr>
          <a:xfrm xmlns:a="http://schemas.openxmlformats.org/drawingml/2006/main">
            <a:off x="400050" y="6477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Từ ý nghĩa chính trị đến cách công chúng cùng trải nghiệm hòa bình</a:t>
            </a:r>
          </a:p>
        </p:txBody>
      </p:sp>
      <p:sp>
        <p:nvSpPr>
          <p:cNvPr id="6" name="">
            <a:extLst xmlns:a="http://schemas.openxmlformats.org/drawingml/2006/main">
              <a:ext uri="{FF2B5EF4-FFF2-40B4-BE49-F238E27FC236}">
                <a16:creationId xmlns:a16="http://schemas.microsoft.com/office/drawing/2014/main" id="{935420D7-2451-461B-A2B8-BC0242B5B7B7}"/>
              </a:ext>
            </a:extLst>
          </p:cNvPr>
          <p:cNvSpPr>
            <a:spLocks xmlns:a="http://schemas.openxmlformats.org/drawingml/2006/main" noGrp="1"/>
          </p:cNvSpPr>
          <p:nvPr/>
        </p:nvSpPr>
        <p:spPr>
          <a:xfrm xmlns:a="http://schemas.openxmlformats.org/drawingml/2006/main">
            <a:off x="400050" y="12573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68758D"/>
                </a:solidFill>
                <a:latin typeface="Roboto"/>
                <a:ea typeface="Roboto"/>
                <a:cs typeface="Roboto"/>
              </a:defRPr>
            </a:pPr>
            <a:r>
              <a:rPr sz="1163" b="0" i="0">
                <a:solidFill>
                  <a:srgbClr val="68758D"/>
                </a:solidFill>
                <a:latin typeface="Roboto"/>
                <a:ea typeface="Roboto"/>
                <a:cs typeface="Roboto"/>
              </a:rPr>
              <a:t>Các ví dụ dưới đây chỉ minh họa sự tham gia và tiếp nhận văn hóa; không được dùng để khẳng định cảm xúc của toàn bộ người dân.</a:t>
            </a:r>
          </a:p>
        </p:txBody>
      </p:sp>
      <p:sp>
        <p:nvSpPr>
          <p:cNvPr id="7" name="">
            <a:extLst xmlns:a="http://schemas.openxmlformats.org/drawingml/2006/main">
              <a:ext uri="{FF2B5EF4-FFF2-40B4-BE49-F238E27FC236}">
                <a16:creationId xmlns:a16="http://schemas.microsoft.com/office/drawing/2014/main" id="{1D3C00CA-280F-473B-8B57-1043E519694C}"/>
              </a:ext>
            </a:extLst>
          </p:cNvPr>
          <p:cNvSpPr>
            <a:spLocks xmlns:a="http://schemas.openxmlformats.org/drawingml/2006/main" noGrp="1"/>
          </p:cNvSpPr>
          <p:nvPr/>
        </p:nvSpPr>
        <p:spPr>
          <a:xfrm xmlns:a="http://schemas.openxmlformats.org/drawingml/2006/main">
            <a:off x="400050" y="2095500"/>
            <a:ext cx="3524250" cy="2876550"/>
          </a:xfrm>
          <a:prstGeom xmlns:a="http://schemas.openxmlformats.org/drawingml/2006/main" prst="roundRect">
            <a:avLst>
              <a:gd name="adj" fmla="val 4636"/>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8B169BD7-4032-425F-921B-0DFE3F6C141A}"/>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14FE975F-F8CD-43D8-919C-87C4904B684E}"/>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02/09/2025 • VTV</a:t>
            </a:r>
          </a:p>
        </p:txBody>
      </p:sp>
      <p:sp>
        <p:nvSpPr>
          <p:cNvPr id="10" name="">
            <a:extLst xmlns:a="http://schemas.openxmlformats.org/drawingml/2006/main">
              <a:ext uri="{FF2B5EF4-FFF2-40B4-BE49-F238E27FC236}">
                <a16:creationId xmlns:a16="http://schemas.microsoft.com/office/drawing/2014/main" id="{A94CC61E-1510-4C38-B687-7466B34678A6}"/>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A80 / Không gian chung</a:t>
            </a:r>
          </a:p>
        </p:txBody>
      </p:sp>
      <p:sp>
        <p:nvSpPr>
          <p:cNvPr id="11" name="">
            <a:extLst xmlns:a="http://schemas.openxmlformats.org/drawingml/2006/main">
              <a:ext uri="{FF2B5EF4-FFF2-40B4-BE49-F238E27FC236}">
                <a16:creationId xmlns:a16="http://schemas.microsoft.com/office/drawing/2014/main" id="{93A76171-7813-41A4-8FA1-BB2C8E83E9E4}"/>
              </a:ext>
            </a:extLst>
          </p:cNvPr>
          <p:cNvSpPr>
            <a:spLocks xmlns:a="http://schemas.openxmlformats.org/drawingml/2006/main" noGrp="1"/>
          </p:cNvSpPr>
          <p:nvPr/>
        </p:nvSpPr>
        <p:spPr>
          <a:xfrm xmlns:a="http://schemas.openxmlformats.org/drawingml/2006/main">
            <a:off x="742950" y="2895600"/>
            <a:ext cx="30289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VTV ghi nhận hàng chục nghìn người từ nhiều tỉnh, thành có mặt ở các tuyến phố trung tâm Hà Nội để theo dõi diễu binh, diễu hành.</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 Dẫn chứng về sự tham gia cộng đồng và biểu tượng quốc gia.</a:t>
            </a:r>
          </a:p>
        </p:txBody>
      </p:sp>
      <p:sp>
        <p:nvSpPr>
          <p:cNvPr id="12" name="">
            <a:extLst xmlns:a="http://schemas.openxmlformats.org/drawingml/2006/main">
              <a:ext uri="{FF2B5EF4-FFF2-40B4-BE49-F238E27FC236}">
                <a16:creationId xmlns:a16="http://schemas.microsoft.com/office/drawing/2014/main" id="{5325C3B2-35FD-4CCF-A8F0-D77102855ED7}"/>
              </a:ext>
            </a:extLst>
          </p:cNvPr>
          <p:cNvSpPr>
            <a:spLocks xmlns:a="http://schemas.openxmlformats.org/drawingml/2006/main" noGrp="1"/>
          </p:cNvSpPr>
          <p:nvPr/>
        </p:nvSpPr>
        <p:spPr>
          <a:xfrm xmlns:a="http://schemas.openxmlformats.org/drawingml/2006/main">
            <a:off x="4333875" y="2095500"/>
            <a:ext cx="3524250" cy="2876550"/>
          </a:xfrm>
          <a:prstGeom xmlns:a="http://schemas.openxmlformats.org/drawingml/2006/main" prst="roundRect">
            <a:avLst>
              <a:gd name="adj" fmla="val 4636"/>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AB5ADCCC-0590-4A7F-8BBF-BA6421543B7B}"/>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756C701D-100C-41E6-8B5D-1AD8B68D277F}"/>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01/09/2025 • VTV</a:t>
            </a:r>
          </a:p>
        </p:txBody>
      </p:sp>
      <p:sp>
        <p:nvSpPr>
          <p:cNvPr id="15" name="">
            <a:extLst xmlns:a="http://schemas.openxmlformats.org/drawingml/2006/main">
              <a:ext uri="{FF2B5EF4-FFF2-40B4-BE49-F238E27FC236}">
                <a16:creationId xmlns:a16="http://schemas.microsoft.com/office/drawing/2014/main" id="{07715A34-81C2-412C-97D2-8BDB2E32B2D5}"/>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Concert quốc gia</a:t>
            </a:r>
          </a:p>
        </p:txBody>
      </p:sp>
      <p:sp>
        <p:nvSpPr>
          <p:cNvPr id="16" name="">
            <a:extLst xmlns:a="http://schemas.openxmlformats.org/drawingml/2006/main">
              <a:ext uri="{FF2B5EF4-FFF2-40B4-BE49-F238E27FC236}">
                <a16:creationId xmlns:a16="http://schemas.microsoft.com/office/drawing/2014/main" id="{8F832694-7EEC-4D3D-ACF2-75CA29219751}"/>
              </a:ext>
            </a:extLst>
          </p:cNvPr>
          <p:cNvSpPr>
            <a:spLocks xmlns:a="http://schemas.openxmlformats.org/drawingml/2006/main" noGrp="1"/>
          </p:cNvSpPr>
          <p:nvPr/>
        </p:nvSpPr>
        <p:spPr>
          <a:xfrm xmlns:a="http://schemas.openxmlformats.org/drawingml/2006/main">
            <a:off x="4676775" y="2895600"/>
            <a:ext cx="30289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“80 năm Hành trình Độc lập – Tự do – Hạnh phúc” quy tụ nghệ sĩ trong một chương trình quốc gia.</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 Dẫn chứng về cách ba giá trị được kể lại trong văn hóa đại chúng.</a:t>
            </a:r>
          </a:p>
        </p:txBody>
      </p:sp>
      <p:sp>
        <p:nvSpPr>
          <p:cNvPr id="17" name="">
            <a:extLst xmlns:a="http://schemas.openxmlformats.org/drawingml/2006/main">
              <a:ext uri="{FF2B5EF4-FFF2-40B4-BE49-F238E27FC236}">
                <a16:creationId xmlns:a16="http://schemas.microsoft.com/office/drawing/2014/main" id="{7EC19AB8-C1A3-48D7-94FB-1642CED4E733}"/>
              </a:ext>
            </a:extLst>
          </p:cNvPr>
          <p:cNvSpPr>
            <a:spLocks xmlns:a="http://schemas.openxmlformats.org/drawingml/2006/main" noGrp="1"/>
          </p:cNvSpPr>
          <p:nvPr/>
        </p:nvSpPr>
        <p:spPr>
          <a:xfrm xmlns:a="http://schemas.openxmlformats.org/drawingml/2006/main">
            <a:off x="8286750" y="2095500"/>
            <a:ext cx="3524250" cy="2876550"/>
          </a:xfrm>
          <a:prstGeom xmlns:a="http://schemas.openxmlformats.org/drawingml/2006/main" prst="roundRect">
            <a:avLst>
              <a:gd name="adj" fmla="val 4636"/>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B9AC2B9E-A963-4F34-B1C4-41FD98542D4B}"/>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B8F09B2E-5E43-4972-9971-32C6BFFE77DF}"/>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07/09/2025 • TTXVN</a:t>
            </a:r>
          </a:p>
        </p:txBody>
      </p:sp>
      <p:sp>
        <p:nvSpPr>
          <p:cNvPr id="20" name="">
            <a:extLst xmlns:a="http://schemas.openxmlformats.org/drawingml/2006/main">
              <a:ext uri="{FF2B5EF4-FFF2-40B4-BE49-F238E27FC236}">
                <a16:creationId xmlns:a16="http://schemas.microsoft.com/office/drawing/2014/main" id="{F4E1FAA1-CCB7-4486-8E3D-3ED41E5C9274}"/>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Mưa đỏ / Ký ức lịch sử</a:t>
            </a:r>
          </a:p>
        </p:txBody>
      </p:sp>
      <p:sp>
        <p:nvSpPr>
          <p:cNvPr id="21" name="">
            <a:extLst xmlns:a="http://schemas.openxmlformats.org/drawingml/2006/main">
              <a:ext uri="{FF2B5EF4-FFF2-40B4-BE49-F238E27FC236}">
                <a16:creationId xmlns:a16="http://schemas.microsoft.com/office/drawing/2014/main" id="{7CE633F9-E163-4B92-91A8-7A43E0CE8775}"/>
              </a:ext>
            </a:extLst>
          </p:cNvPr>
          <p:cNvSpPr>
            <a:spLocks xmlns:a="http://schemas.openxmlformats.org/drawingml/2006/main" noGrp="1"/>
          </p:cNvSpPr>
          <p:nvPr/>
        </p:nvSpPr>
        <p:spPr>
          <a:xfrm xmlns:a="http://schemas.openxmlformats.org/drawingml/2006/main">
            <a:off x="8629650" y="2895600"/>
            <a:ext cx="30289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VietnamPlus/TTXVN đưa tin doanh thu Mưa đỏ vượt 552 tỷ đồng sau 17 ngày và suất chiếu sớm.</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 Chỉ nói về mức độ tiếp nhận thị trường, không suy ra cảm xúc của mọi khán giả.</a:t>
            </a:r>
          </a:p>
        </p:txBody>
      </p:sp>
      <p:sp>
        <p:nvSpPr>
          <p:cNvPr id="22" name="">
            <a:extLst xmlns:a="http://schemas.openxmlformats.org/drawingml/2006/main">
              <a:ext uri="{FF2B5EF4-FFF2-40B4-BE49-F238E27FC236}">
                <a16:creationId xmlns:a16="http://schemas.microsoft.com/office/drawing/2014/main" id="{EFBCCA15-971A-49EE-A2CB-51DE62F9AD3C}"/>
              </a:ext>
            </a:extLst>
          </p:cNvPr>
          <p:cNvSpPr>
            <a:spLocks xmlns:a="http://schemas.openxmlformats.org/drawingml/2006/main" noGrp="1"/>
          </p:cNvSpPr>
          <p:nvPr/>
        </p:nvSpPr>
        <p:spPr>
          <a:xfrm xmlns:a="http://schemas.openxmlformats.org/drawingml/2006/main">
            <a:off x="400050" y="5429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Quy tắc học thuật: thực tiễn làm bật vấn đề — không thay thế chứng minh lý luận.</a:t>
            </a:r>
          </a:p>
        </p:txBody>
      </p:sp>
      <p:sp>
        <p:nvSpPr>
          <p:cNvPr id="23" name="">
            <a:extLst xmlns:a="http://schemas.openxmlformats.org/drawingml/2006/main">
              <a:ext uri="{FF2B5EF4-FFF2-40B4-BE49-F238E27FC236}">
                <a16:creationId xmlns:a16="http://schemas.microsoft.com/office/drawing/2014/main" id="{B9916AA9-AFE8-474F-9393-39AF17B6F122}"/>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thực tiễn: VTV (A80; concert 2025); VietnamPlus/TTXVN (Mưa đỏ). Link đầy đủ trong speaker notes.</a:t>
            </a:r>
          </a:p>
        </p:txBody>
      </p:sp>
    </p:spTree>
    <p:extLst>
      <p:ext uri="{BB962C8B-B14F-4D97-AF65-F5344CB8AC3E}">
        <p14:creationId xmlns:p14="http://schemas.microsoft.com/office/powerpoint/2010/main" val="1010003968"/>
      </p:ext>
    </p:extLst>
  </p:cSld>
</p:sld>
</file>

<file path=ppt/slides/slide11.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54BEAAF-FBBB-43E1-B7A2-165C400E2247}"/>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CFF9BC2C-92B6-4949-AAB8-64BE53896044}"/>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PRACTICAL READING</a:t>
            </a:r>
          </a:p>
        </p:txBody>
      </p:sp>
      <p:sp>
        <p:nvSpPr>
          <p:cNvPr id="3" name="">
            <a:extLst xmlns:a="http://schemas.openxmlformats.org/drawingml/2006/main">
              <a:ext uri="{FF2B5EF4-FFF2-40B4-BE49-F238E27FC236}">
                <a16:creationId xmlns:a16="http://schemas.microsoft.com/office/drawing/2014/main" id="{BD728A68-07C1-4457-88E4-B998307E9DAC}"/>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11</a:t>
            </a:r>
          </a:p>
        </p:txBody>
      </p:sp>
      <p:sp>
        <p:nvSpPr>
          <p:cNvPr id="4" name="">
            <a:extLst xmlns:a="http://schemas.openxmlformats.org/drawingml/2006/main">
              <a:ext uri="{FF2B5EF4-FFF2-40B4-BE49-F238E27FC236}">
                <a16:creationId xmlns:a16="http://schemas.microsoft.com/office/drawing/2014/main" id="{67FD625C-6055-42A6-931B-593DF9641376}"/>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1.2 • ĐỌC DẪN CHỨNG CÓ KIỂM SOÁT</a:t>
            </a:r>
          </a:p>
        </p:txBody>
      </p:sp>
      <p:sp>
        <p:nvSpPr>
          <p:cNvPr id="5" name="">
            <a:extLst xmlns:a="http://schemas.openxmlformats.org/drawingml/2006/main">
              <a:ext uri="{FF2B5EF4-FFF2-40B4-BE49-F238E27FC236}">
                <a16:creationId xmlns:a16="http://schemas.microsoft.com/office/drawing/2014/main" id="{FBD855BB-2F5B-4D56-9006-AFB95C16C3CF}"/>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Một dẫn chứng tốt phải nói rõ: sự kiện cho thấy gì — và không cho thấy gì</a:t>
            </a:r>
          </a:p>
        </p:txBody>
      </p:sp>
      <p:sp>
        <p:nvSpPr>
          <p:cNvPr id="6" name="">
            <a:extLst xmlns:a="http://schemas.openxmlformats.org/drawingml/2006/main">
              <a:ext uri="{FF2B5EF4-FFF2-40B4-BE49-F238E27FC236}">
                <a16:creationId xmlns:a16="http://schemas.microsoft.com/office/drawing/2014/main" id="{C99B9B12-63E9-4BC5-8519-338DCBF6D4D4}"/>
              </a:ext>
            </a:extLst>
          </p:cNvPr>
          <p:cNvSpPr>
            <a:spLocks xmlns:a="http://schemas.openxmlformats.org/drawingml/2006/main" noGrp="1"/>
          </p:cNvSpPr>
          <p:nvPr/>
        </p:nvSpPr>
        <p:spPr>
          <a:xfrm xmlns:a="http://schemas.openxmlformats.org/drawingml/2006/main">
            <a:off x="400050" y="12001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Đây là điểm nhóm dùng để tránh biến dữ liệu thời sự thành lời khẳng định quá mức.</a:t>
            </a:r>
          </a:p>
        </p:txBody>
      </p:sp>
      <p:sp>
        <p:nvSpPr>
          <p:cNvPr id="7" name="">
            <a:extLst xmlns:a="http://schemas.openxmlformats.org/drawingml/2006/main">
              <a:ext uri="{FF2B5EF4-FFF2-40B4-BE49-F238E27FC236}">
                <a16:creationId xmlns:a16="http://schemas.microsoft.com/office/drawing/2014/main" id="{BCCA7F94-3AA6-4BDD-888D-A8D6C098561D}"/>
              </a:ext>
            </a:extLst>
          </p:cNvPr>
          <p:cNvSpPr>
            <a:spLocks xmlns:a="http://schemas.openxmlformats.org/drawingml/2006/main" noGrp="1"/>
          </p:cNvSpPr>
          <p:nvPr/>
        </p:nvSpPr>
        <p:spPr>
          <a:xfrm xmlns:a="http://schemas.openxmlformats.org/drawingml/2006/main">
            <a:off x="400050" y="2095500"/>
            <a:ext cx="3524250" cy="2857500"/>
          </a:xfrm>
          <a:prstGeom xmlns:a="http://schemas.openxmlformats.org/drawingml/2006/main" prst="roundRect">
            <a:avLst>
              <a:gd name="adj" fmla="val 4667"/>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579CFED8-0363-4144-AD43-D0D05214AE9E}"/>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05784B50-DB22-4C76-BDFF-A61150FD6A76}"/>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DỮ KIỆN</a:t>
            </a:r>
          </a:p>
        </p:txBody>
      </p:sp>
      <p:sp>
        <p:nvSpPr>
          <p:cNvPr id="10" name="">
            <a:extLst xmlns:a="http://schemas.openxmlformats.org/drawingml/2006/main">
              <a:ext uri="{FF2B5EF4-FFF2-40B4-BE49-F238E27FC236}">
                <a16:creationId xmlns:a16="http://schemas.microsoft.com/office/drawing/2014/main" id="{45DEFA8E-53D1-41AD-A4FE-C288F79B30CA}"/>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Nói đúng điều đã xảy ra</a:t>
            </a:r>
          </a:p>
        </p:txBody>
      </p:sp>
      <p:sp>
        <p:nvSpPr>
          <p:cNvPr id="11" name="">
            <a:extLst xmlns:a="http://schemas.openxmlformats.org/drawingml/2006/main">
              <a:ext uri="{FF2B5EF4-FFF2-40B4-BE49-F238E27FC236}">
                <a16:creationId xmlns:a16="http://schemas.microsoft.com/office/drawing/2014/main" id="{1F0DDC3A-BF61-427A-B463-242D34E3A0F1}"/>
              </a:ext>
            </a:extLst>
          </p:cNvPr>
          <p:cNvSpPr>
            <a:spLocks xmlns:a="http://schemas.openxmlformats.org/drawingml/2006/main" noGrp="1"/>
          </p:cNvSpPr>
          <p:nvPr/>
        </p:nvSpPr>
        <p:spPr>
          <a:xfrm xmlns:a="http://schemas.openxmlformats.org/drawingml/2006/main">
            <a:off x="742950" y="28956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A80: VTV ghi nhận hàng chục nghìn người có mặt tại các tuyến phố trung tâm Hà Nội.</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Mưa đỏ: VietnamPlus/TTXVN đưa tin doanh thu vượt 552 tỷ đồng tại thời điểm bài đăng.</a:t>
            </a:r>
          </a:p>
        </p:txBody>
      </p:sp>
      <p:sp>
        <p:nvSpPr>
          <p:cNvPr id="12" name="">
            <a:extLst xmlns:a="http://schemas.openxmlformats.org/drawingml/2006/main">
              <a:ext uri="{FF2B5EF4-FFF2-40B4-BE49-F238E27FC236}">
                <a16:creationId xmlns:a16="http://schemas.microsoft.com/office/drawing/2014/main" id="{8FB5136C-5CC5-4C01-B174-AF4FFC0037CD}"/>
              </a:ext>
            </a:extLst>
          </p:cNvPr>
          <p:cNvSpPr>
            <a:spLocks xmlns:a="http://schemas.openxmlformats.org/drawingml/2006/main" noGrp="1"/>
          </p:cNvSpPr>
          <p:nvPr/>
        </p:nvSpPr>
        <p:spPr>
          <a:xfrm xmlns:a="http://schemas.openxmlformats.org/drawingml/2006/main">
            <a:off x="4333875" y="2095500"/>
            <a:ext cx="3524250" cy="2857500"/>
          </a:xfrm>
          <a:prstGeom xmlns:a="http://schemas.openxmlformats.org/drawingml/2006/main" prst="roundRect">
            <a:avLst>
              <a:gd name="adj" fmla="val 4667"/>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2ECE5E9E-CA94-4C41-8A84-209DA0A4AB27}"/>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39690E86-5E67-4369-A8B3-110A346A645C}"/>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DIỄN GIẢI</a:t>
            </a:r>
          </a:p>
        </p:txBody>
      </p:sp>
      <p:sp>
        <p:nvSpPr>
          <p:cNvPr id="15" name="">
            <a:extLst xmlns:a="http://schemas.openxmlformats.org/drawingml/2006/main">
              <a:ext uri="{FF2B5EF4-FFF2-40B4-BE49-F238E27FC236}">
                <a16:creationId xmlns:a16="http://schemas.microsoft.com/office/drawing/2014/main" id="{58B65BFE-468F-4D20-B69F-4E03A8555A67}"/>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Nói điều dữ kiện gợi ra</a:t>
            </a:r>
          </a:p>
        </p:txBody>
      </p:sp>
      <p:sp>
        <p:nvSpPr>
          <p:cNvPr id="16" name="">
            <a:extLst xmlns:a="http://schemas.openxmlformats.org/drawingml/2006/main">
              <a:ext uri="{FF2B5EF4-FFF2-40B4-BE49-F238E27FC236}">
                <a16:creationId xmlns:a16="http://schemas.microsoft.com/office/drawing/2014/main" id="{376EBB81-827E-4441-B20A-1705A086014F}"/>
              </a:ext>
            </a:extLst>
          </p:cNvPr>
          <p:cNvSpPr>
            <a:spLocks xmlns:a="http://schemas.openxmlformats.org/drawingml/2006/main" noGrp="1"/>
          </p:cNvSpPr>
          <p:nvPr/>
        </p:nvSpPr>
        <p:spPr>
          <a:xfrm xmlns:a="http://schemas.openxmlformats.org/drawingml/2006/main">
            <a:off x="4676775" y="28956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Các sự kiện cho thấy biểu tượng độc lập, hòa bình và ký ức lịch sử có không gian tiếp nhận công cộng.</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Đây là minh họa cho tính thời sự của đề tài.</a:t>
            </a:r>
          </a:p>
        </p:txBody>
      </p:sp>
      <p:sp>
        <p:nvSpPr>
          <p:cNvPr id="17" name="">
            <a:extLst xmlns:a="http://schemas.openxmlformats.org/drawingml/2006/main">
              <a:ext uri="{FF2B5EF4-FFF2-40B4-BE49-F238E27FC236}">
                <a16:creationId xmlns:a16="http://schemas.microsoft.com/office/drawing/2014/main" id="{71FC31E8-299B-40BC-87CA-4E5BD22D8D13}"/>
              </a:ext>
            </a:extLst>
          </p:cNvPr>
          <p:cNvSpPr>
            <a:spLocks xmlns:a="http://schemas.openxmlformats.org/drawingml/2006/main" noGrp="1"/>
          </p:cNvSpPr>
          <p:nvPr/>
        </p:nvSpPr>
        <p:spPr>
          <a:xfrm xmlns:a="http://schemas.openxmlformats.org/drawingml/2006/main">
            <a:off x="8286750" y="2095500"/>
            <a:ext cx="3524250" cy="2857500"/>
          </a:xfrm>
          <a:prstGeom xmlns:a="http://schemas.openxmlformats.org/drawingml/2006/main" prst="roundRect">
            <a:avLst>
              <a:gd name="adj" fmla="val 4667"/>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C8E4A641-C156-4B48-8669-49563B3A5D10}"/>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A1BD22D4-EDBC-4DFD-9C1E-92625E3E5A97}"/>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KHÔNG SUY RA</a:t>
            </a:r>
          </a:p>
        </p:txBody>
      </p:sp>
      <p:sp>
        <p:nvSpPr>
          <p:cNvPr id="20" name="">
            <a:extLst xmlns:a="http://schemas.openxmlformats.org/drawingml/2006/main">
              <a:ext uri="{FF2B5EF4-FFF2-40B4-BE49-F238E27FC236}">
                <a16:creationId xmlns:a16="http://schemas.microsoft.com/office/drawing/2014/main" id="{B3FCC088-BAC8-4E19-B016-BFB26C6475BB}"/>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Không nói thay dữ liệu</a:t>
            </a:r>
          </a:p>
        </p:txBody>
      </p:sp>
      <p:sp>
        <p:nvSpPr>
          <p:cNvPr id="21" name="">
            <a:extLst xmlns:a="http://schemas.openxmlformats.org/drawingml/2006/main">
              <a:ext uri="{FF2B5EF4-FFF2-40B4-BE49-F238E27FC236}">
                <a16:creationId xmlns:a16="http://schemas.microsoft.com/office/drawing/2014/main" id="{89213946-3B09-4E6F-A95A-745070712DD2}"/>
              </a:ext>
            </a:extLst>
          </p:cNvPr>
          <p:cNvSpPr>
            <a:spLocks xmlns:a="http://schemas.openxmlformats.org/drawingml/2006/main" noGrp="1"/>
          </p:cNvSpPr>
          <p:nvPr/>
        </p:nvSpPr>
        <p:spPr>
          <a:xfrm xmlns:a="http://schemas.openxmlformats.org/drawingml/2006/main">
            <a:off x="8629650" y="28956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Không gọi đó là khảo sát đại diện. Không nói toàn bộ người dân đều hạnh phúc. Không dùng doanh thu để đo chất lượng tư tưởng hay cảm xúc của mọi khán giả.</a:t>
            </a:r>
          </a:p>
        </p:txBody>
      </p:sp>
      <p:sp>
        <p:nvSpPr>
          <p:cNvPr id="22" name="">
            <a:extLst xmlns:a="http://schemas.openxmlformats.org/drawingml/2006/main">
              <a:ext uri="{FF2B5EF4-FFF2-40B4-BE49-F238E27FC236}">
                <a16:creationId xmlns:a16="http://schemas.microsoft.com/office/drawing/2014/main" id="{781486C9-598E-4329-9F0D-FBAA5223A217}"/>
              </a:ext>
            </a:extLst>
          </p:cNvPr>
          <p:cNvSpPr>
            <a:spLocks xmlns:a="http://schemas.openxmlformats.org/drawingml/2006/main" noGrp="1"/>
          </p:cNvSpPr>
          <p:nvPr/>
        </p:nvSpPr>
        <p:spPr>
          <a:xfrm xmlns:a="http://schemas.openxmlformats.org/drawingml/2006/main">
            <a:off x="400050" y="54673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Thực tiễn làm bật câu hỏi; nguồn lý luận mới trả lời được câu hỏi.</a:t>
            </a:r>
          </a:p>
        </p:txBody>
      </p:sp>
      <p:sp>
        <p:nvSpPr>
          <p:cNvPr id="23" name="">
            <a:extLst xmlns:a="http://schemas.openxmlformats.org/drawingml/2006/main">
              <a:ext uri="{FF2B5EF4-FFF2-40B4-BE49-F238E27FC236}">
                <a16:creationId xmlns:a16="http://schemas.microsoft.com/office/drawing/2014/main" id="{3D61A56C-7093-49F5-8A79-0B12AEBDD36E}"/>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thực tiễn: VTV; VietnamPlus/TTXVN. Chi tiết và link gốc trong speaker notes slide 10.</a:t>
            </a:r>
          </a:p>
        </p:txBody>
      </p:sp>
    </p:spTree>
    <p:extLst>
      <p:ext uri="{BB962C8B-B14F-4D97-AF65-F5344CB8AC3E}">
        <p14:creationId xmlns:p14="http://schemas.microsoft.com/office/powerpoint/2010/main" val="2134647338"/>
      </p:ext>
    </p:extLst>
  </p:cSld>
</p:sld>
</file>

<file path=ppt/slides/slide12.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888549-7949-45F2-B7D6-ED631DCEC76D}"/>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B8D627AA-3AC4-469B-838D-9EC908B84D27}"/>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CONFLICT / Q&amp;A</a:t>
            </a:r>
          </a:p>
        </p:txBody>
      </p:sp>
      <p:sp>
        <p:nvSpPr>
          <p:cNvPr id="3" name="">
            <a:extLst xmlns:a="http://schemas.openxmlformats.org/drawingml/2006/main">
              <a:ext uri="{FF2B5EF4-FFF2-40B4-BE49-F238E27FC236}">
                <a16:creationId xmlns:a16="http://schemas.microsoft.com/office/drawing/2014/main" id="{D868AF39-60E4-47FF-B6E7-1AA9E0A4B84F}"/>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12</a:t>
            </a:r>
          </a:p>
        </p:txBody>
      </p:sp>
      <p:sp>
        <p:nvSpPr>
          <p:cNvPr id="4" name="">
            <a:extLst xmlns:a="http://schemas.openxmlformats.org/drawingml/2006/main">
              <a:ext uri="{FF2B5EF4-FFF2-40B4-BE49-F238E27FC236}">
                <a16:creationId xmlns:a16="http://schemas.microsoft.com/office/drawing/2014/main" id="{89C9AEDB-3F78-4166-890B-D6C6B29760B2}"/>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1.1 • CONFLICT / Q&amp;A</a:t>
            </a:r>
          </a:p>
        </p:txBody>
      </p:sp>
      <p:sp>
        <p:nvSpPr>
          <p:cNvPr id="5" name="">
            <a:extLst xmlns:a="http://schemas.openxmlformats.org/drawingml/2006/main">
              <a:ext uri="{FF2B5EF4-FFF2-40B4-BE49-F238E27FC236}">
                <a16:creationId xmlns:a16="http://schemas.microsoft.com/office/drawing/2014/main" id="{31B2BAA3-9299-4884-A45C-8CE404CDF1F5}"/>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Mâu thuẫn cần trả lời: độc lập chính trị đã đủ chưa?</a:t>
            </a:r>
          </a:p>
        </p:txBody>
      </p:sp>
      <p:sp>
        <p:nvSpPr>
          <p:cNvPr id="6" name="">
            <a:extLst xmlns:a="http://schemas.openxmlformats.org/drawingml/2006/main">
              <a:ext uri="{FF2B5EF4-FFF2-40B4-BE49-F238E27FC236}">
                <a16:creationId xmlns:a16="http://schemas.microsoft.com/office/drawing/2014/main" id="{69E9EBDD-DA49-4B60-B640-CDE33D089BC1}"/>
              </a:ext>
            </a:extLst>
          </p:cNvPr>
          <p:cNvSpPr>
            <a:spLocks xmlns:a="http://schemas.openxmlformats.org/drawingml/2006/main" noGrp="1"/>
          </p:cNvSpPr>
          <p:nvPr/>
        </p:nvSpPr>
        <p:spPr>
          <a:xfrm xmlns:a="http://schemas.openxmlformats.org/drawingml/2006/main">
            <a:off x="400050" y="2095500"/>
            <a:ext cx="5381625" cy="2952750"/>
          </a:xfrm>
          <a:prstGeom xmlns:a="http://schemas.openxmlformats.org/drawingml/2006/main" prst="roundRect">
            <a:avLst>
              <a:gd name="adj" fmla="val 5161"/>
            </a:avLst>
          </a:prstGeom>
          <a:solidFill xmlns:a="http://schemas.openxmlformats.org/drawingml/2006/main">
            <a:srgbClr val="F8ECEB"/>
          </a:solidFill>
          <a:ln xmlns:a="http://schemas.openxmlformats.org/drawingml/2006/main" w="9525">
            <a:solidFill>
              <a:srgbClr val="A64242"/>
            </a:solidFill>
            <a:prstDash val="solid"/>
          </a:ln>
        </p:spPr>
      </p:sp>
      <p:sp>
        <p:nvSpPr>
          <p:cNvPr id="7" name="">
            <a:extLst xmlns:a="http://schemas.openxmlformats.org/drawingml/2006/main">
              <a:ext uri="{FF2B5EF4-FFF2-40B4-BE49-F238E27FC236}">
                <a16:creationId xmlns:a16="http://schemas.microsoft.com/office/drawing/2014/main" id="{897007ED-121F-4FDC-B283-F0175DA8FFE8}"/>
              </a:ext>
            </a:extLst>
          </p:cNvPr>
          <p:cNvSpPr>
            <a:spLocks xmlns:a="http://schemas.openxmlformats.org/drawingml/2006/main" noGrp="1"/>
          </p:cNvSpPr>
          <p:nvPr/>
        </p:nvSpPr>
        <p:spPr>
          <a:xfrm xmlns:a="http://schemas.openxmlformats.org/drawingml/2006/main">
            <a:off x="666750" y="23622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A64242"/>
                </a:solidFill>
                <a:latin typeface="Roboto"/>
                <a:ea typeface="Roboto"/>
                <a:cs typeface="Roboto"/>
              </a:defRPr>
            </a:pPr>
            <a:r>
              <a:rPr sz="900" b="1" i="0">
                <a:solidFill>
                  <a:srgbClr val="A64242"/>
                </a:solidFill>
                <a:latin typeface="Roboto"/>
                <a:ea typeface="Roboto"/>
                <a:cs typeface="Roboto"/>
              </a:rPr>
              <a:t>CÂU HỎI PHẢN BIỆN</a:t>
            </a:r>
          </a:p>
        </p:txBody>
      </p:sp>
      <p:sp>
        <p:nvSpPr>
          <p:cNvPr id="8" name="">
            <a:extLst xmlns:a="http://schemas.openxmlformats.org/drawingml/2006/main">
              <a:ext uri="{FF2B5EF4-FFF2-40B4-BE49-F238E27FC236}">
                <a16:creationId xmlns:a16="http://schemas.microsoft.com/office/drawing/2014/main" id="{A918D2B3-3B39-4BA2-8645-C4D4CC2A94C1}"/>
              </a:ext>
            </a:extLst>
          </p:cNvPr>
          <p:cNvSpPr>
            <a:spLocks xmlns:a="http://schemas.openxmlformats.org/drawingml/2006/main" noGrp="1"/>
          </p:cNvSpPr>
          <p:nvPr/>
        </p:nvSpPr>
        <p:spPr>
          <a:xfrm xmlns:a="http://schemas.openxmlformats.org/drawingml/2006/main">
            <a:off x="666750" y="2743200"/>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16213A"/>
                </a:solidFill>
                <a:latin typeface="Lora"/>
                <a:ea typeface="Lora"/>
                <a:cs typeface="Lora"/>
              </a:defRPr>
            </a:pPr>
            <a:r>
              <a:rPr sz="1575" b="1" i="0">
                <a:solidFill>
                  <a:srgbClr val="16213A"/>
                </a:solidFill>
                <a:latin typeface="Lora"/>
                <a:ea typeface="Lora"/>
                <a:cs typeface="Lora"/>
              </a:rPr>
              <a:t>Nếu một quốc gia đã xác lập độc lập về mặt chính trị nhưng một bộ phận nhân dân chưa được bảo đảm những điều kiện tự do và đời sống cụ thể, thì chỉ xác lập độc lập chính trị đã đủ để khẳng định ý nghĩa đầy đủ của nền độc lập hay chưa?</a:t>
            </a:r>
          </a:p>
        </p:txBody>
      </p:sp>
      <p:sp>
        <p:nvSpPr>
          <p:cNvPr id="9" name="">
            <a:extLst xmlns:a="http://schemas.openxmlformats.org/drawingml/2006/main">
              <a:ext uri="{FF2B5EF4-FFF2-40B4-BE49-F238E27FC236}">
                <a16:creationId xmlns:a16="http://schemas.microsoft.com/office/drawing/2014/main" id="{C35E9403-AEDF-475E-8CCF-42E5F1087426}"/>
              </a:ext>
            </a:extLst>
          </p:cNvPr>
          <p:cNvSpPr>
            <a:spLocks xmlns:a="http://schemas.openxmlformats.org/drawingml/2006/main" noGrp="1"/>
          </p:cNvSpPr>
          <p:nvPr/>
        </p:nvSpPr>
        <p:spPr>
          <a:xfrm xmlns:a="http://schemas.openxmlformats.org/drawingml/2006/main">
            <a:off x="6457950" y="2095500"/>
            <a:ext cx="5334000" cy="2952750"/>
          </a:xfrm>
          <a:prstGeom xmlns:a="http://schemas.openxmlformats.org/drawingml/2006/main" prst="roundRect">
            <a:avLst>
              <a:gd name="adj" fmla="val 5161"/>
            </a:avLst>
          </a:prstGeom>
          <a:solidFill xmlns:a="http://schemas.openxmlformats.org/drawingml/2006/main">
            <a:srgbClr val="F4F7FC"/>
          </a:solidFill>
          <a:ln xmlns:a="http://schemas.openxmlformats.org/drawingml/2006/main" w="9525">
            <a:solidFill>
              <a:srgbClr val="2F5FB5"/>
            </a:solidFill>
            <a:prstDash val="solid"/>
          </a:ln>
        </p:spPr>
      </p:sp>
      <p:sp>
        <p:nvSpPr>
          <p:cNvPr id="10" name="">
            <a:extLst xmlns:a="http://schemas.openxmlformats.org/drawingml/2006/main">
              <a:ext uri="{FF2B5EF4-FFF2-40B4-BE49-F238E27FC236}">
                <a16:creationId xmlns:a16="http://schemas.microsoft.com/office/drawing/2014/main" id="{D84224B1-D880-41F2-9A82-9047C0438125}"/>
              </a:ext>
            </a:extLst>
          </p:cNvPr>
          <p:cNvSpPr>
            <a:spLocks xmlns:a="http://schemas.openxmlformats.org/drawingml/2006/main" noGrp="1"/>
          </p:cNvSpPr>
          <p:nvPr/>
        </p:nvSpPr>
        <p:spPr>
          <a:xfrm xmlns:a="http://schemas.openxmlformats.org/drawingml/2006/main">
            <a:off x="6724650" y="23622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CÂU TRẢ LỜI CÓ GIỚI HẠN</a:t>
            </a:r>
          </a:p>
        </p:txBody>
      </p:sp>
      <p:sp>
        <p:nvSpPr>
          <p:cNvPr id="11" name="">
            <a:extLst xmlns:a="http://schemas.openxmlformats.org/drawingml/2006/main">
              <a:ext uri="{FF2B5EF4-FFF2-40B4-BE49-F238E27FC236}">
                <a16:creationId xmlns:a16="http://schemas.microsoft.com/office/drawing/2014/main" id="{08DC3C47-E45C-459E-B52B-9FFA8A7B32CE}"/>
              </a:ext>
            </a:extLst>
          </p:cNvPr>
          <p:cNvSpPr>
            <a:spLocks xmlns:a="http://schemas.openxmlformats.org/drawingml/2006/main" noGrp="1"/>
          </p:cNvSpPr>
          <p:nvPr/>
        </p:nvSpPr>
        <p:spPr>
          <a:xfrm xmlns:a="http://schemas.openxmlformats.org/drawingml/2006/main">
            <a:off x="6724650" y="27432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6213A"/>
                </a:solidFill>
                <a:latin typeface="Lora"/>
                <a:ea typeface="Lora"/>
                <a:cs typeface="Lora"/>
              </a:defRPr>
            </a:pPr>
            <a:r>
              <a:rPr sz="1575" b="1" i="0">
                <a:solidFill>
                  <a:srgbClr val="16213A"/>
                </a:solidFill>
                <a:latin typeface="Lora"/>
                <a:ea typeface="Lora"/>
                <a:cs typeface="Lora"/>
              </a:rPr>
              <a:t>Nhóm không phủ nhận nền độc lập.</a:t>
            </a:r>
          </a:p>
        </p:txBody>
      </p:sp>
      <p:sp>
        <p:nvSpPr>
          <p:cNvPr id="12" name="">
            <a:extLst xmlns:a="http://schemas.openxmlformats.org/drawingml/2006/main">
              <a:ext uri="{FF2B5EF4-FFF2-40B4-BE49-F238E27FC236}">
                <a16:creationId xmlns:a16="http://schemas.microsoft.com/office/drawing/2014/main" id="{4E584C7E-1170-49A2-8584-AFE957A929D4}"/>
              </a:ext>
            </a:extLst>
          </p:cNvPr>
          <p:cNvSpPr>
            <a:spLocks xmlns:a="http://schemas.openxmlformats.org/drawingml/2006/main" noGrp="1"/>
          </p:cNvSpPr>
          <p:nvPr/>
        </p:nvSpPr>
        <p:spPr>
          <a:xfrm xmlns:a="http://schemas.openxmlformats.org/drawingml/2006/main">
            <a:off x="6724650" y="318135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16213A"/>
                </a:solidFill>
                <a:latin typeface="Roboto"/>
                <a:ea typeface="Roboto"/>
                <a:cs typeface="Roboto"/>
              </a:defRPr>
            </a:pPr>
            <a:r>
              <a:rPr sz="1350" b="0" i="0">
                <a:solidFill>
                  <a:srgbClr val="16213A"/>
                </a:solidFill>
                <a:latin typeface="Roboto"/>
                <a:ea typeface="Roboto"/>
                <a:cs typeface="Roboto"/>
              </a:rPr>
              <a:t>Nhóm chỉ chỉ ra rằng ý nghĩa của độc lập cần được xem xét trong mối liên hệ với tự do, hạnh phúc và đời sống nhân dân. Đây là phân tích của nhóm dựa trên nguồn, không phải kết luận tuyệt đối.</a:t>
            </a:r>
          </a:p>
        </p:txBody>
      </p:sp>
      <p:sp>
        <p:nvSpPr>
          <p:cNvPr id="13" name="">
            <a:extLst xmlns:a="http://schemas.openxmlformats.org/drawingml/2006/main">
              <a:ext uri="{FF2B5EF4-FFF2-40B4-BE49-F238E27FC236}">
                <a16:creationId xmlns:a16="http://schemas.microsoft.com/office/drawing/2014/main" id="{99C707FE-2072-47D9-934E-AF7089023602}"/>
              </a:ext>
            </a:extLst>
          </p:cNvPr>
          <p:cNvSpPr>
            <a:spLocks xmlns:a="http://schemas.openxmlformats.org/drawingml/2006/main" noGrp="1"/>
          </p:cNvSpPr>
          <p:nvPr/>
        </p:nvSpPr>
        <p:spPr>
          <a:xfrm xmlns:a="http://schemas.openxmlformats.org/drawingml/2006/main">
            <a:off x="400050" y="54673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503"/>
          </a:bodyPr>
          <a:lstStyle xmlns:a="http://schemas.openxmlformats.org/drawingml/2006/main"/>
          <a:p xmlns:a="http://schemas.openxmlformats.org/drawingml/2006/main">
            <a:pPr algn="ctr">
              <a:lnSpc>
                <a:spcPct val="108000"/>
              </a:lnSpc>
              <a:buNone/>
              <a:defRPr sz="1388" b="1" i="0">
                <a:solidFill>
                  <a:srgbClr val="16213A"/>
                </a:solidFill>
                <a:latin typeface="Lora"/>
                <a:ea typeface="Lora"/>
                <a:cs typeface="Lora"/>
              </a:defRPr>
            </a:pPr>
            <a:r>
              <a:rPr sz="1388" b="1" i="0">
                <a:solidFill>
                  <a:srgbClr val="16213A"/>
                </a:solidFill>
                <a:latin typeface="Lora"/>
                <a:ea typeface="Lora"/>
                <a:cs typeface="Lora"/>
              </a:rPr>
              <a:t>Công thức tự bảo vệ: không phủ nhận nền độc lập → không đồng nhất độc lập với một trạng thái hình thức → không biến ví dụ thành phán xét toàn bộ.</a:t>
            </a:r>
          </a:p>
        </p:txBody>
      </p:sp>
      <p:sp>
        <p:nvSpPr>
          <p:cNvPr id="14" name="">
            <a:extLst xmlns:a="http://schemas.openxmlformats.org/drawingml/2006/main">
              <a:ext uri="{FF2B5EF4-FFF2-40B4-BE49-F238E27FC236}">
                <a16:creationId xmlns:a16="http://schemas.microsoft.com/office/drawing/2014/main" id="{8F0316E8-D4CE-4501-8E21-D63FD0D6DB4B}"/>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Câu hỏi và câu trả lời là phân tích của nhóm, dựa trên Giáo trình 2019, tr.43 và Hồ Chí Minh Toàn tập, T4, tr.64.</a:t>
            </a:r>
          </a:p>
        </p:txBody>
      </p:sp>
    </p:spTree>
    <p:extLst>
      <p:ext uri="{BB962C8B-B14F-4D97-AF65-F5344CB8AC3E}">
        <p14:creationId xmlns:p14="http://schemas.microsoft.com/office/powerpoint/2010/main" val="2096928894"/>
      </p:ext>
    </p:extLst>
  </p:cSld>
</p:sld>
</file>

<file path=ppt/slides/slide13.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27C1E29-C787-417B-A9EC-764E9CF2D7FC}"/>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91D12CCC-FB78-4ED3-AD62-EE1F92D52F7B}"/>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PEER CHALLENGE</a:t>
            </a:r>
          </a:p>
        </p:txBody>
      </p:sp>
      <p:sp>
        <p:nvSpPr>
          <p:cNvPr id="3" name="">
            <a:extLst xmlns:a="http://schemas.openxmlformats.org/drawingml/2006/main">
              <a:ext uri="{FF2B5EF4-FFF2-40B4-BE49-F238E27FC236}">
                <a16:creationId xmlns:a16="http://schemas.microsoft.com/office/drawing/2014/main" id="{963F8EE2-D260-40CE-8F15-97DB7CDE8703}"/>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13</a:t>
            </a:r>
          </a:p>
        </p:txBody>
      </p:sp>
      <p:sp>
        <p:nvSpPr>
          <p:cNvPr id="4" name="">
            <a:extLst xmlns:a="http://schemas.openxmlformats.org/drawingml/2006/main">
              <a:ext uri="{FF2B5EF4-FFF2-40B4-BE49-F238E27FC236}">
                <a16:creationId xmlns:a16="http://schemas.microsoft.com/office/drawing/2014/main" id="{D3AA8384-15C2-4ED2-B3CE-422003524881}"/>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RUBRIC 1.3 • INTERACTION</a:t>
            </a:r>
          </a:p>
        </p:txBody>
      </p:sp>
      <p:sp>
        <p:nvSpPr>
          <p:cNvPr id="5" name="">
            <a:extLst xmlns:a="http://schemas.openxmlformats.org/drawingml/2006/main">
              <a:ext uri="{FF2B5EF4-FFF2-40B4-BE49-F238E27FC236}">
                <a16:creationId xmlns:a16="http://schemas.microsoft.com/office/drawing/2014/main" id="{F8D22F91-C290-4F39-9E67-8FCBBFC4703F}"/>
              </a:ext>
            </a:extLst>
          </p:cNvPr>
          <p:cNvSpPr>
            <a:spLocks xmlns:a="http://schemas.openxmlformats.org/drawingml/2006/main" noGrp="1"/>
          </p:cNvSpPr>
          <p:nvPr/>
        </p:nvSpPr>
        <p:spPr>
          <a:xfrm xmlns:a="http://schemas.openxmlformats.org/drawingml/2006/main">
            <a:off x="400050" y="647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Bạn có thể thử bẻ gãy bản đồ bằng 6 câu hỏi</a:t>
            </a:r>
          </a:p>
        </p:txBody>
      </p:sp>
      <p:sp>
        <p:nvSpPr>
          <p:cNvPr id="6" name="">
            <a:extLst xmlns:a="http://schemas.openxmlformats.org/drawingml/2006/main">
              <a:ext uri="{FF2B5EF4-FFF2-40B4-BE49-F238E27FC236}">
                <a16:creationId xmlns:a16="http://schemas.microsoft.com/office/drawing/2014/main" id="{8765538E-9DCC-4957-802A-9604DDE7CF9F}"/>
              </a:ext>
            </a:extLst>
          </p:cNvPr>
          <p:cNvSpPr>
            <a:spLocks xmlns:a="http://schemas.openxmlformats.org/drawingml/2006/main" noGrp="1"/>
          </p:cNvSpPr>
          <p:nvPr/>
        </p:nvSpPr>
        <p:spPr>
          <a:xfrm xmlns:a="http://schemas.openxmlformats.org/drawingml/2006/main">
            <a:off x="400050" y="12573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Mỗi câu hỏi đi theo C–C–C: bối cảnh, lý luận, mâu thuẫn.</a:t>
            </a:r>
          </a:p>
        </p:txBody>
      </p:sp>
      <p:sp>
        <p:nvSpPr>
          <p:cNvPr id="7" name="">
            <a:extLst xmlns:a="http://schemas.openxmlformats.org/drawingml/2006/main">
              <a:ext uri="{FF2B5EF4-FFF2-40B4-BE49-F238E27FC236}">
                <a16:creationId xmlns:a16="http://schemas.microsoft.com/office/drawing/2014/main" id="{03D17A76-AB89-4C2A-9A88-81F34EF099E9}"/>
              </a:ext>
            </a:extLst>
          </p:cNvPr>
          <p:cNvSpPr>
            <a:spLocks xmlns:a="http://schemas.openxmlformats.org/drawingml/2006/main" noGrp="1"/>
          </p:cNvSpPr>
          <p:nvPr/>
        </p:nvSpPr>
        <p:spPr>
          <a:xfrm xmlns:a="http://schemas.openxmlformats.org/drawingml/2006/main">
            <a:off x="400050" y="2095500"/>
            <a:ext cx="3524250" cy="2952750"/>
          </a:xfrm>
          <a:prstGeom xmlns:a="http://schemas.openxmlformats.org/drawingml/2006/main" prst="roundRect">
            <a:avLst>
              <a:gd name="adj" fmla="val 4516"/>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93B8E066-861C-4516-8137-827DEBB2950A}"/>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126F7989-5CA2-437B-BFA8-187230C92F45}"/>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CONTEXT</a:t>
            </a:r>
          </a:p>
        </p:txBody>
      </p:sp>
      <p:sp>
        <p:nvSpPr>
          <p:cNvPr id="10" name="">
            <a:extLst xmlns:a="http://schemas.openxmlformats.org/drawingml/2006/main">
              <a:ext uri="{FF2B5EF4-FFF2-40B4-BE49-F238E27FC236}">
                <a16:creationId xmlns:a16="http://schemas.microsoft.com/office/drawing/2014/main" id="{FBCDAF4F-83A8-4B2F-863F-84DD450ECD98}"/>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Bối cảnh</a:t>
            </a:r>
          </a:p>
        </p:txBody>
      </p:sp>
      <p:sp>
        <p:nvSpPr>
          <p:cNvPr id="11" name="">
            <a:extLst xmlns:a="http://schemas.openxmlformats.org/drawingml/2006/main">
              <a:ext uri="{FF2B5EF4-FFF2-40B4-BE49-F238E27FC236}">
                <a16:creationId xmlns:a16="http://schemas.microsoft.com/office/drawing/2014/main" id="{2D129A12-AD28-4870-B652-0880E849C3C2}"/>
              </a:ext>
            </a:extLst>
          </p:cNvPr>
          <p:cNvSpPr>
            <a:spLocks xmlns:a="http://schemas.openxmlformats.org/drawingml/2006/main" noGrp="1"/>
          </p:cNvSpPr>
          <p:nvPr/>
        </p:nvSpPr>
        <p:spPr>
          <a:xfrm xmlns:a="http://schemas.openxmlformats.org/drawingml/2006/main">
            <a:off x="742950" y="28956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1. Câu ở T4 tr.64 xuất hiện trong văn bản nào và đang trả lời vấn đề gì?</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2. Vì sao nhóm phải tách tình huống giả định khỏi dữ liệu thực tế?</a:t>
            </a:r>
          </a:p>
        </p:txBody>
      </p:sp>
      <p:sp>
        <p:nvSpPr>
          <p:cNvPr id="12" name="">
            <a:extLst xmlns:a="http://schemas.openxmlformats.org/drawingml/2006/main">
              <a:ext uri="{FF2B5EF4-FFF2-40B4-BE49-F238E27FC236}">
                <a16:creationId xmlns:a16="http://schemas.microsoft.com/office/drawing/2014/main" id="{FB507998-2242-46B6-8F6A-5A8215BE9561}"/>
              </a:ext>
            </a:extLst>
          </p:cNvPr>
          <p:cNvSpPr>
            <a:spLocks xmlns:a="http://schemas.openxmlformats.org/drawingml/2006/main" noGrp="1"/>
          </p:cNvSpPr>
          <p:nvPr/>
        </p:nvSpPr>
        <p:spPr>
          <a:xfrm xmlns:a="http://schemas.openxmlformats.org/drawingml/2006/main">
            <a:off x="4333875" y="2095500"/>
            <a:ext cx="3524250" cy="2952750"/>
          </a:xfrm>
          <a:prstGeom xmlns:a="http://schemas.openxmlformats.org/drawingml/2006/main" prst="roundRect">
            <a:avLst>
              <a:gd name="adj" fmla="val 4516"/>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EAAC77DD-6F5A-4AE0-8C0A-C953BC82E1E7}"/>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236EE212-46D7-4904-A420-B34B434119A7}"/>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CONCEPT</a:t>
            </a:r>
          </a:p>
        </p:txBody>
      </p:sp>
      <p:sp>
        <p:nvSpPr>
          <p:cNvPr id="15" name="">
            <a:extLst xmlns:a="http://schemas.openxmlformats.org/drawingml/2006/main">
              <a:ext uri="{FF2B5EF4-FFF2-40B4-BE49-F238E27FC236}">
                <a16:creationId xmlns:a16="http://schemas.microsoft.com/office/drawing/2014/main" id="{8CA58F1C-2D21-4F78-8F86-72B6B4BFB914}"/>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Lý luận</a:t>
            </a:r>
          </a:p>
        </p:txBody>
      </p:sp>
      <p:sp>
        <p:nvSpPr>
          <p:cNvPr id="16" name="">
            <a:extLst xmlns:a="http://schemas.openxmlformats.org/drawingml/2006/main">
              <a:ext uri="{FF2B5EF4-FFF2-40B4-BE49-F238E27FC236}">
                <a16:creationId xmlns:a16="http://schemas.microsoft.com/office/drawing/2014/main" id="{0CFB0B0D-1CB1-4968-B4B0-EC90004D335D}"/>
              </a:ext>
            </a:extLst>
          </p:cNvPr>
          <p:cNvSpPr>
            <a:spLocks xmlns:a="http://schemas.openxmlformats.org/drawingml/2006/main" noGrp="1"/>
          </p:cNvSpPr>
          <p:nvPr/>
        </p:nvSpPr>
        <p:spPr>
          <a:xfrm xmlns:a="http://schemas.openxmlformats.org/drawingml/2006/main">
            <a:off x="4676775" y="28956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3. Tr.43 là câu trích của Hồ Chí Minh hay tiêu đề luận điểm của Giáo trình?</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4. Vì sao “nhân dân” nằm ở trung tâm nhưng không phải giá trị thứ tư?</a:t>
            </a:r>
          </a:p>
        </p:txBody>
      </p:sp>
      <p:sp>
        <p:nvSpPr>
          <p:cNvPr id="17" name="">
            <a:extLst xmlns:a="http://schemas.openxmlformats.org/drawingml/2006/main">
              <a:ext uri="{FF2B5EF4-FFF2-40B4-BE49-F238E27FC236}">
                <a16:creationId xmlns:a16="http://schemas.microsoft.com/office/drawing/2014/main" id="{629B7BD2-D814-42C0-93AB-4A92D25FA555}"/>
              </a:ext>
            </a:extLst>
          </p:cNvPr>
          <p:cNvSpPr>
            <a:spLocks xmlns:a="http://schemas.openxmlformats.org/drawingml/2006/main" noGrp="1"/>
          </p:cNvSpPr>
          <p:nvPr/>
        </p:nvSpPr>
        <p:spPr>
          <a:xfrm xmlns:a="http://schemas.openxmlformats.org/drawingml/2006/main">
            <a:off x="8286750" y="2095500"/>
            <a:ext cx="3524250" cy="2952750"/>
          </a:xfrm>
          <a:prstGeom xmlns:a="http://schemas.openxmlformats.org/drawingml/2006/main" prst="roundRect">
            <a:avLst>
              <a:gd name="adj" fmla="val 4516"/>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A7325966-1AC0-40D8-A894-322D97969A0F}"/>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BD895CEF-0ABA-4DA9-A8F8-0F2F9788D4F7}"/>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CONFLICT</a:t>
            </a:r>
          </a:p>
        </p:txBody>
      </p:sp>
      <p:sp>
        <p:nvSpPr>
          <p:cNvPr id="20" name="">
            <a:extLst xmlns:a="http://schemas.openxmlformats.org/drawingml/2006/main">
              <a:ext uri="{FF2B5EF4-FFF2-40B4-BE49-F238E27FC236}">
                <a16:creationId xmlns:a16="http://schemas.microsoft.com/office/drawing/2014/main" id="{B7C6858F-A0FF-471C-B266-A76A702D64C0}"/>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Mâu thuẫn</a:t>
            </a:r>
          </a:p>
        </p:txBody>
      </p:sp>
      <p:sp>
        <p:nvSpPr>
          <p:cNvPr id="21" name="">
            <a:extLst xmlns:a="http://schemas.openxmlformats.org/drawingml/2006/main">
              <a:ext uri="{FF2B5EF4-FFF2-40B4-BE49-F238E27FC236}">
                <a16:creationId xmlns:a16="http://schemas.microsoft.com/office/drawing/2014/main" id="{BA4C5BF4-7D17-42A8-BEB5-774AD1A80B8E}"/>
              </a:ext>
            </a:extLst>
          </p:cNvPr>
          <p:cNvSpPr>
            <a:spLocks xmlns:a="http://schemas.openxmlformats.org/drawingml/2006/main" noGrp="1"/>
          </p:cNvSpPr>
          <p:nvPr/>
        </p:nvSpPr>
        <p:spPr>
          <a:xfrm xmlns:a="http://schemas.openxmlformats.org/drawingml/2006/main">
            <a:off x="8629650" y="28956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5. Nếu độc lập chính trị đã có nhưng đời sống chưa bảo đảm, bản đồ trả lời thế nào?</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6. Nhóm có đang biến hạnh phúc thành một chỉ số đo duy nhất không?</a:t>
            </a:r>
          </a:p>
        </p:txBody>
      </p:sp>
      <p:sp>
        <p:nvSpPr>
          <p:cNvPr id="22" name="">
            <a:extLst xmlns:a="http://schemas.openxmlformats.org/drawingml/2006/main">
              <a:ext uri="{FF2B5EF4-FFF2-40B4-BE49-F238E27FC236}">
                <a16:creationId xmlns:a16="http://schemas.microsoft.com/office/drawing/2014/main" id="{0F3997C8-A08A-4B27-BE38-3AD9EF067720}"/>
              </a:ext>
            </a:extLst>
          </p:cNvPr>
          <p:cNvSpPr>
            <a:spLocks xmlns:a="http://schemas.openxmlformats.org/drawingml/2006/main" noGrp="1"/>
          </p:cNvSpPr>
          <p:nvPr/>
        </p:nvSpPr>
        <p:spPr>
          <a:xfrm xmlns:a="http://schemas.openxmlformats.org/drawingml/2006/main">
            <a:off x="400050" y="54673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Câu hỏi tương tác cuối: Trong bản đồ, bạn sẽ giữ lại đường nối nào — và yêu cầu nhóm chứng minh bằng nguồn nào?</a:t>
            </a:r>
          </a:p>
        </p:txBody>
      </p:sp>
    </p:spTree>
    <p:extLst>
      <p:ext uri="{BB962C8B-B14F-4D97-AF65-F5344CB8AC3E}">
        <p14:creationId xmlns:p14="http://schemas.microsoft.com/office/powerpoint/2010/main" val="1761055445"/>
      </p:ext>
    </p:extLst>
  </p:cSld>
</p:sld>
</file>

<file path=ppt/slides/slide14.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5CF300-99F0-4902-ABA9-1600D79A6392}"/>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8E9FEBE2-D8CD-479A-8F40-EBA1E55EB609}"/>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KẾT LUẬN</a:t>
            </a:r>
          </a:p>
        </p:txBody>
      </p:sp>
      <p:sp>
        <p:nvSpPr>
          <p:cNvPr id="3" name="">
            <a:extLst xmlns:a="http://schemas.openxmlformats.org/drawingml/2006/main">
              <a:ext uri="{FF2B5EF4-FFF2-40B4-BE49-F238E27FC236}">
                <a16:creationId xmlns:a16="http://schemas.microsoft.com/office/drawing/2014/main" id="{1835DCA1-6346-46A1-836C-F9CEE9CC84FA}"/>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14</a:t>
            </a:r>
          </a:p>
        </p:txBody>
      </p:sp>
      <p:sp>
        <p:nvSpPr>
          <p:cNvPr id="4" name="">
            <a:extLst xmlns:a="http://schemas.openxmlformats.org/drawingml/2006/main">
              <a:ext uri="{FF2B5EF4-FFF2-40B4-BE49-F238E27FC236}">
                <a16:creationId xmlns:a16="http://schemas.microsoft.com/office/drawing/2014/main" id="{67B26842-DB5A-45FB-9FBA-33216B56BDB3}"/>
              </a:ext>
            </a:extLst>
          </p:cNvPr>
          <p:cNvSpPr>
            <a:spLocks xmlns:a="http://schemas.openxmlformats.org/drawingml/2006/main" noGrp="1"/>
          </p:cNvSpPr>
          <p:nvPr/>
        </p:nvSpPr>
        <p:spPr>
          <a:xfrm xmlns:a="http://schemas.openxmlformats.org/drawingml/2006/main">
            <a:off x="400050" y="742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2F5FB5"/>
                </a:solidFill>
                <a:latin typeface="Roboto"/>
                <a:ea typeface="Roboto"/>
                <a:cs typeface="Roboto"/>
              </a:defRPr>
            </a:pPr>
            <a:r>
              <a:rPr sz="975" b="1" i="0">
                <a:solidFill>
                  <a:srgbClr val="2F5FB5"/>
                </a:solidFill>
                <a:latin typeface="Roboto"/>
                <a:ea typeface="Roboto"/>
                <a:cs typeface="Roboto"/>
              </a:rPr>
              <a:t>KẾT LUẬN</a:t>
            </a:r>
          </a:p>
        </p:txBody>
      </p:sp>
      <p:sp>
        <p:nvSpPr>
          <p:cNvPr id="5" name="">
            <a:extLst xmlns:a="http://schemas.openxmlformats.org/drawingml/2006/main">
              <a:ext uri="{FF2B5EF4-FFF2-40B4-BE49-F238E27FC236}">
                <a16:creationId xmlns:a16="http://schemas.microsoft.com/office/drawing/2014/main" id="{067114C0-E511-4DE1-A574-0F47C2422760}"/>
              </a:ext>
            </a:extLst>
          </p:cNvPr>
          <p:cNvSpPr>
            <a:spLocks xmlns:a="http://schemas.openxmlformats.org/drawingml/2006/main" noGrp="1"/>
          </p:cNvSpPr>
          <p:nvPr/>
        </p:nvSpPr>
        <p:spPr>
          <a:xfrm xmlns:a="http://schemas.openxmlformats.org/drawingml/2006/main">
            <a:off x="400050" y="1600200"/>
            <a:ext cx="895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234A8F"/>
                </a:solidFill>
                <a:latin typeface="Lora"/>
                <a:ea typeface="Lora"/>
                <a:cs typeface="Lora"/>
              </a:defRPr>
            </a:pPr>
            <a:r>
              <a:rPr sz="3000" b="1" i="0">
                <a:solidFill>
                  <a:srgbClr val="234A8F"/>
                </a:solidFill>
                <a:latin typeface="Lora"/>
                <a:ea typeface="Lora"/>
                <a:cs typeface="Lora"/>
              </a:rPr>
              <a:t>Độc lập không đứng một mình.</a:t>
            </a:r>
          </a:p>
        </p:txBody>
      </p:sp>
      <p:sp>
        <p:nvSpPr>
          <p:cNvPr id="6" name="">
            <a:extLst xmlns:a="http://schemas.openxmlformats.org/drawingml/2006/main">
              <a:ext uri="{FF2B5EF4-FFF2-40B4-BE49-F238E27FC236}">
                <a16:creationId xmlns:a16="http://schemas.microsoft.com/office/drawing/2014/main" id="{E9E0CF57-C069-47A7-8142-E9E5F742A311}"/>
              </a:ext>
            </a:extLst>
          </p:cNvPr>
          <p:cNvSpPr>
            <a:spLocks xmlns:a="http://schemas.openxmlformats.org/drawingml/2006/main" noGrp="1"/>
          </p:cNvSpPr>
          <p:nvPr/>
        </p:nvSpPr>
        <p:spPr>
          <a:xfrm xmlns:a="http://schemas.openxmlformats.org/drawingml/2006/main">
            <a:off x="400050" y="2609850"/>
            <a:ext cx="857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16213A"/>
                </a:solidFill>
                <a:latin typeface="Roboto"/>
                <a:ea typeface="Roboto"/>
                <a:cs typeface="Roboto"/>
              </a:defRPr>
            </a:pPr>
            <a:r>
              <a:rPr sz="1800" b="0" i="0">
                <a:solidFill>
                  <a:srgbClr val="16213A"/>
                </a:solidFill>
                <a:latin typeface="Roboto"/>
                <a:ea typeface="Roboto"/>
                <a:cs typeface="Roboto"/>
              </a:rPr>
              <a:t>Trong phạm vi nguồn được chọn, nhóm hiểu rằng ý nghĩa đầy đủ của độc lập phải được đọc trong mối liên hệ với tự do, hạnh phúc và đời sống nhân dân.</a:t>
            </a:r>
          </a:p>
        </p:txBody>
      </p:sp>
      <p:sp>
        <p:nvSpPr>
          <p:cNvPr id="7" name="">
            <a:extLst xmlns:a="http://schemas.openxmlformats.org/drawingml/2006/main">
              <a:ext uri="{FF2B5EF4-FFF2-40B4-BE49-F238E27FC236}">
                <a16:creationId xmlns:a16="http://schemas.microsoft.com/office/drawing/2014/main" id="{E2B5F59A-1086-44A9-9F0B-F5DE336C3A16}"/>
              </a:ext>
            </a:extLst>
          </p:cNvPr>
          <p:cNvSpPr>
            <a:spLocks xmlns:a="http://schemas.openxmlformats.org/drawingml/2006/main" noGrp="1"/>
          </p:cNvSpPr>
          <p:nvPr/>
        </p:nvSpPr>
        <p:spPr>
          <a:xfrm xmlns:a="http://schemas.openxmlformats.org/drawingml/2006/main">
            <a:off x="400050" y="3943350"/>
            <a:ext cx="7791450" cy="0"/>
          </a:xfrm>
          <a:prstGeom xmlns:a="http://schemas.openxmlformats.org/drawingml/2006/main" prst="line">
            <a:avLst/>
          </a:prstGeom>
          <a:noFill xmlns:a="http://schemas.openxmlformats.org/drawingml/2006/main"/>
          <a:ln xmlns:a="http://schemas.openxmlformats.org/drawingml/2006/main" w="9525">
            <a:solidFill>
              <a:srgbClr val="16213A"/>
            </a:solidFill>
            <a:prstDash val="solid"/>
          </a:ln>
        </p:spPr>
      </p:sp>
      <p:sp>
        <p:nvSpPr>
          <p:cNvPr id="8" name="">
            <a:extLst xmlns:a="http://schemas.openxmlformats.org/drawingml/2006/main">
              <a:ext uri="{FF2B5EF4-FFF2-40B4-BE49-F238E27FC236}">
                <a16:creationId xmlns:a16="http://schemas.microsoft.com/office/drawing/2014/main" id="{4B38583C-5C4D-4680-B9E5-2D98F03FF8F3}"/>
              </a:ext>
            </a:extLst>
          </p:cNvPr>
          <p:cNvSpPr>
            <a:spLocks xmlns:a="http://schemas.openxmlformats.org/drawingml/2006/main" noGrp="1"/>
          </p:cNvSpPr>
          <p:nvPr/>
        </p:nvSpPr>
        <p:spPr>
          <a:xfrm xmlns:a="http://schemas.openxmlformats.org/drawingml/2006/main">
            <a:off x="400050" y="42672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2F5FB5"/>
                </a:solidFill>
                <a:latin typeface="Roboto"/>
                <a:ea typeface="Roboto"/>
                <a:cs typeface="Roboto"/>
              </a:defRPr>
            </a:pPr>
            <a:r>
              <a:rPr sz="975" b="1" i="0">
                <a:solidFill>
                  <a:srgbClr val="2F5FB5"/>
                </a:solidFill>
                <a:latin typeface="Roboto"/>
                <a:ea typeface="Roboto"/>
                <a:cs typeface="Roboto"/>
              </a:rPr>
              <a:t>Nguồn chính thức</a:t>
            </a:r>
          </a:p>
        </p:txBody>
      </p:sp>
      <p:sp>
        <p:nvSpPr>
          <p:cNvPr id="9" name="">
            <a:extLst xmlns:a="http://schemas.openxmlformats.org/drawingml/2006/main">
              <a:ext uri="{FF2B5EF4-FFF2-40B4-BE49-F238E27FC236}">
                <a16:creationId xmlns:a16="http://schemas.microsoft.com/office/drawing/2014/main" id="{5A5720E5-A0D9-45FF-9DA0-5E5BD4FA3FDE}"/>
              </a:ext>
            </a:extLst>
          </p:cNvPr>
          <p:cNvSpPr>
            <a:spLocks xmlns:a="http://schemas.openxmlformats.org/drawingml/2006/main" noGrp="1"/>
          </p:cNvSpPr>
          <p:nvPr/>
        </p:nvSpPr>
        <p:spPr>
          <a:xfrm xmlns:a="http://schemas.openxmlformats.org/drawingml/2006/main">
            <a:off x="400050" y="457200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i="0">
                <a:solidFill>
                  <a:srgbClr val="16213A"/>
                </a:solidFill>
                <a:latin typeface="Roboto"/>
                <a:ea typeface="Roboto"/>
                <a:cs typeface="Roboto"/>
              </a:defRPr>
            </a:pPr>
            <a:r>
              <a:rPr sz="1350" b="0" i="0">
                <a:solidFill>
                  <a:srgbClr val="16213A"/>
                </a:solidFill>
                <a:latin typeface="Roboto"/>
                <a:ea typeface="Roboto"/>
                <a:cs typeface="Roboto"/>
              </a:rPr>
              <a:t>Giáo trình Tư tưởng Hồ Chí Minh (Bộ GD&amp;ĐT, 2019)</a:t>
            </a:r>
          </a:p>
          <a:p xmlns:a="http://schemas.openxmlformats.org/drawingml/2006/main">
            <a:pPr algn="l">
              <a:lnSpc>
                <a:spcPct val="112000"/>
              </a:lnSpc>
              <a:buNone/>
              <a:defRPr sz="1350" b="0" i="0">
                <a:solidFill>
                  <a:srgbClr val="16213A"/>
                </a:solidFill>
                <a:latin typeface="Roboto"/>
                <a:ea typeface="Roboto"/>
                <a:cs typeface="Roboto"/>
              </a:defRPr>
            </a:pPr>
            <a:r>
              <a:rPr sz="1350" b="0" i="0">
                <a:solidFill>
                  <a:srgbClr val="16213A"/>
                </a:solidFill>
                <a:latin typeface="Roboto"/>
                <a:ea typeface="Roboto"/>
                <a:cs typeface="Roboto"/>
              </a:rPr>
              <a:t>Hồ Chí Minh Toàn tập, Tập 4</a:t>
            </a:r>
          </a:p>
        </p:txBody>
      </p:sp>
      <p:sp>
        <p:nvSpPr>
          <p:cNvPr id="10" name="">
            <a:extLst xmlns:a="http://schemas.openxmlformats.org/drawingml/2006/main">
              <a:ext uri="{FF2B5EF4-FFF2-40B4-BE49-F238E27FC236}">
                <a16:creationId xmlns:a16="http://schemas.microsoft.com/office/drawing/2014/main" id="{CC51589D-D286-4215-BB74-A6FFCB568E76}"/>
              </a:ext>
            </a:extLst>
          </p:cNvPr>
          <p:cNvSpPr>
            <a:spLocks xmlns:a="http://schemas.openxmlformats.org/drawingml/2006/main" noGrp="1"/>
          </p:cNvSpPr>
          <p:nvPr/>
        </p:nvSpPr>
        <p:spPr>
          <a:xfrm xmlns:a="http://schemas.openxmlformats.org/drawingml/2006/main">
            <a:off x="7429500" y="476250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2F5FB5"/>
                </a:solidFill>
                <a:latin typeface="Lora"/>
                <a:ea typeface="Lora"/>
                <a:cs typeface="Lora"/>
              </a:defRPr>
            </a:pPr>
            <a:r>
              <a:rPr sz="1650" b="1" i="0">
                <a:solidFill>
                  <a:srgbClr val="2F5FB5"/>
                </a:solidFill>
                <a:latin typeface="Lora"/>
                <a:ea typeface="Lora"/>
                <a:cs typeface="Lora"/>
              </a:rPr>
              <a:t>Cảm ơn bạn đã lắng nghe.</a:t>
            </a:r>
          </a:p>
        </p:txBody>
      </p:sp>
      <p:sp>
        <p:nvSpPr>
          <p:cNvPr id="11" name="">
            <a:extLst xmlns:a="http://schemas.openxmlformats.org/drawingml/2006/main">
              <a:ext uri="{FF2B5EF4-FFF2-40B4-BE49-F238E27FC236}">
                <a16:creationId xmlns:a16="http://schemas.microsoft.com/office/drawing/2014/main" id="{DFC808AD-6C04-4218-8315-3CD6EB608AD4}"/>
              </a:ext>
            </a:extLst>
          </p:cNvPr>
          <p:cNvSpPr>
            <a:spLocks xmlns:a="http://schemas.openxmlformats.org/drawingml/2006/main" noGrp="1"/>
          </p:cNvSpPr>
          <p:nvPr/>
        </p:nvSpPr>
        <p:spPr>
          <a:xfrm xmlns:a="http://schemas.openxmlformats.org/drawingml/2006/main">
            <a:off x="7429500" y="5219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8758D"/>
                </a:solidFill>
                <a:latin typeface="Roboto"/>
                <a:ea typeface="Roboto"/>
                <a:cs typeface="Roboto"/>
              </a:defRPr>
            </a:pPr>
            <a:r>
              <a:rPr sz="975" b="0" i="0">
                <a:solidFill>
                  <a:srgbClr val="68758D"/>
                </a:solidFill>
                <a:latin typeface="Roboto"/>
                <a:ea typeface="Roboto"/>
                <a:cs typeface="Roboto"/>
              </a:rPr>
              <a:t>HCM / SPST / C3-02</a:t>
            </a:r>
          </a:p>
        </p:txBody>
      </p:sp>
    </p:spTree>
    <p:extLst>
      <p:ext uri="{BB962C8B-B14F-4D97-AF65-F5344CB8AC3E}">
        <p14:creationId xmlns:p14="http://schemas.microsoft.com/office/powerpoint/2010/main" val="2094054864"/>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2026-09-10T14:56:49.7780000Z</dcterms:created>
  <dcterms:modified xsi:type="dcterms:W3CDTF">2026-09-10T14:56:49.7780000Z</dcterms:modified>
</coreProperties>
</file>